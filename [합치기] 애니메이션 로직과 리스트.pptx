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9" r:id="rId5"/>
    <p:sldId id="260" r:id="rId6"/>
    <p:sldId id="267" r:id="rId7"/>
    <p:sldId id="266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529"/>
    <a:srgbClr val="2F3339"/>
    <a:srgbClr val="FFFFFF"/>
    <a:srgbClr val="BF5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80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043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203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7203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76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848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94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795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0261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124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479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9878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7C87EE-9B19-4EAE-B546-8AC5E586B8C6}" type="datetimeFigureOut">
              <a:rPr lang="ko-KR" altLang="en-US" smtClean="0"/>
              <a:t>2026-04-24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F6241-005F-44CD-A8B4-3999F38BFF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92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B58A47-987A-3A11-13D5-508DA18E1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7428" y="2820647"/>
            <a:ext cx="5087258" cy="991734"/>
          </a:xfrm>
        </p:spPr>
        <p:txBody>
          <a:bodyPr>
            <a:normAutofit/>
          </a:bodyPr>
          <a:lstStyle/>
          <a:p>
            <a:pPr algn="l"/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기획</a:t>
            </a:r>
            <a: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:</a:t>
            </a:r>
            <a:br>
              <a:rPr lang="en-US" altLang="ko-KR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30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 로직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4B5500-1986-2818-C163-D77A465641FA}"/>
              </a:ext>
            </a:extLst>
          </p:cNvPr>
          <p:cNvSpPr txBox="1"/>
          <p:nvPr/>
        </p:nvSpPr>
        <p:spPr>
          <a:xfrm>
            <a:off x="1197428" y="2137341"/>
            <a:ext cx="416307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solidFill>
                  <a:srgbClr val="BF5428"/>
                </a:solidFill>
              </a:rPr>
              <a:t>Boss Skill Animation Logic Documentation</a:t>
            </a:r>
            <a:endParaRPr lang="ko-KR" altLang="en-US" sz="1500" dirty="0">
              <a:solidFill>
                <a:srgbClr val="BF542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A4811-9EA5-B59D-C5EA-A1669FC1BE67}"/>
              </a:ext>
            </a:extLst>
          </p:cNvPr>
          <p:cNvSpPr txBox="1"/>
          <p:nvPr/>
        </p:nvSpPr>
        <p:spPr>
          <a:xfrm>
            <a:off x="1197428" y="4172522"/>
            <a:ext cx="51598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스킬 애니메이션의 로직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8263443-A11C-82C8-EBA2-2D542B89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491" y="1633287"/>
            <a:ext cx="3562847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390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197497" y="812800"/>
            <a:ext cx="1620745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가방 탐색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8D1BFEB-FAE5-979B-6B90-84B7A3E32404}"/>
              </a:ext>
            </a:extLst>
          </p:cNvPr>
          <p:cNvGrpSpPr/>
          <p:nvPr/>
        </p:nvGrpSpPr>
        <p:grpSpPr>
          <a:xfrm>
            <a:off x="76925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AAEDE743-758B-514C-90DA-21EC85453300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기억 재판</a:t>
              </a: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E41675D4-9CC7-035B-43D7-FF99F6437C81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선택의 분기</a:t>
              </a:r>
            </a:p>
          </p:txBody>
        </p:sp>
      </p:grp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EA42106-79BD-D59D-7293-8818A4D368F8}"/>
              </a:ext>
            </a:extLst>
          </p:cNvPr>
          <p:cNvCxnSpPr>
            <a:cxnSpLocks/>
          </p:cNvCxnSpPr>
          <p:nvPr/>
        </p:nvCxnSpPr>
        <p:spPr>
          <a:xfrm>
            <a:off x="769257" y="2039961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53E696A-C53D-55C2-F5EE-60FBE10CACA3}"/>
              </a:ext>
            </a:extLst>
          </p:cNvPr>
          <p:cNvGrpSpPr/>
          <p:nvPr/>
        </p:nvGrpSpPr>
        <p:grpSpPr>
          <a:xfrm>
            <a:off x="3574297" y="1604880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EA15EABE-3446-3449-0206-ACC58EFDA8EE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죄의 무게</a:t>
              </a: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9516D49-6F72-2BC6-7B4A-35626F238D29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전가 불가</a:t>
              </a:r>
            </a:p>
          </p:txBody>
        </p:sp>
      </p:grp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14A4186B-46A1-28C6-0654-54D59AFA5EF1}"/>
              </a:ext>
            </a:extLst>
          </p:cNvPr>
          <p:cNvCxnSpPr>
            <a:cxnSpLocks/>
          </p:cNvCxnSpPr>
          <p:nvPr/>
        </p:nvCxnSpPr>
        <p:spPr>
          <a:xfrm>
            <a:off x="3574297" y="2039961"/>
            <a:ext cx="2073451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C941EA6-A805-6BB9-6369-3BD43A18B199}"/>
              </a:ext>
            </a:extLst>
          </p:cNvPr>
          <p:cNvGrpSpPr/>
          <p:nvPr/>
        </p:nvGrpSpPr>
        <p:grpSpPr>
          <a:xfrm>
            <a:off x="9184374" y="1598876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C59F383E-633E-D536-7592-AFA8A38E02A5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강제 선행</a:t>
              </a: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DFE0A0B-E2EE-99EF-6432-24B91800C77A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행동 봉인</a:t>
              </a:r>
            </a:p>
          </p:txBody>
        </p:sp>
      </p:grp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F6B43B3-6046-9C35-5DA5-3510F613961D}"/>
              </a:ext>
            </a:extLst>
          </p:cNvPr>
          <p:cNvCxnSpPr>
            <a:cxnSpLocks/>
          </p:cNvCxnSpPr>
          <p:nvPr/>
        </p:nvCxnSpPr>
        <p:spPr>
          <a:xfrm>
            <a:off x="9184374" y="2033957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A46971-563A-A96E-8A6F-97775A0DEA2F}"/>
              </a:ext>
            </a:extLst>
          </p:cNvPr>
          <p:cNvGrpSpPr/>
          <p:nvPr/>
        </p:nvGrpSpPr>
        <p:grpSpPr>
          <a:xfrm>
            <a:off x="6379336" y="1609713"/>
            <a:ext cx="2073452" cy="903561"/>
            <a:chOff x="1184296" y="1825124"/>
            <a:chExt cx="1620746" cy="903561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727AAA32-1763-03D9-211E-D3508C6808A1}"/>
                </a:ext>
              </a:extLst>
            </p:cNvPr>
            <p:cNvSpPr/>
            <p:nvPr/>
          </p:nvSpPr>
          <p:spPr>
            <a:xfrm>
              <a:off x="1184297" y="1825124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망각의 증식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97DF748-E0C9-279A-7CB1-BBE7CC17F02E}"/>
                </a:ext>
              </a:extLst>
            </p:cNvPr>
            <p:cNvSpPr/>
            <p:nvPr/>
          </p:nvSpPr>
          <p:spPr>
            <a:xfrm>
              <a:off x="1184296" y="2258225"/>
              <a:ext cx="1620745" cy="470460"/>
            </a:xfrm>
            <a:prstGeom prst="rect">
              <a:avLst/>
            </a:prstGeom>
            <a:solidFill>
              <a:srgbClr val="2F333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ko-KR" altLang="en-US" sz="1500" dirty="0"/>
                <a:t>환영 폭주</a:t>
              </a:r>
            </a:p>
          </p:txBody>
        </p:sp>
      </p:grp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5947D1E6-B81A-F1A7-44EE-80F4AA4A8C8C}"/>
              </a:ext>
            </a:extLst>
          </p:cNvPr>
          <p:cNvCxnSpPr>
            <a:cxnSpLocks/>
          </p:cNvCxnSpPr>
          <p:nvPr/>
        </p:nvCxnSpPr>
        <p:spPr>
          <a:xfrm>
            <a:off x="6379336" y="2044794"/>
            <a:ext cx="2073450" cy="0"/>
          </a:xfrm>
          <a:prstGeom prst="line">
            <a:avLst/>
          </a:prstGeom>
          <a:ln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94AACAC-D9EF-25C2-55E0-9CE72DC74E15}"/>
              </a:ext>
            </a:extLst>
          </p:cNvPr>
          <p:cNvSpPr/>
          <p:nvPr/>
        </p:nvSpPr>
        <p:spPr>
          <a:xfrm>
            <a:off x="769257" y="28374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전장을 </a:t>
            </a:r>
            <a:r>
              <a:rPr lang="en-US" altLang="ko-KR" sz="1500" dirty="0"/>
              <a:t>2~3</a:t>
            </a:r>
            <a:r>
              <a:rPr lang="ko-KR" altLang="en-US" sz="1500" dirty="0"/>
              <a:t>개의 </a:t>
            </a:r>
            <a:r>
              <a:rPr lang="en-US" altLang="ko-KR" sz="1500" dirty="0"/>
              <a:t>‘</a:t>
            </a:r>
            <a:r>
              <a:rPr lang="ko-KR" altLang="en-US" sz="1500" dirty="0"/>
              <a:t>과거 선택 공간</a:t>
            </a:r>
            <a:r>
              <a:rPr lang="en-US" altLang="ko-KR" sz="1500" dirty="0"/>
              <a:t>’</a:t>
            </a:r>
            <a:r>
              <a:rPr lang="ko-KR" altLang="en-US" sz="1500" dirty="0"/>
              <a:t>으로 분할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2D683BBA-E064-9A31-EC96-93EC9D131BFE}"/>
              </a:ext>
            </a:extLst>
          </p:cNvPr>
          <p:cNvSpPr/>
          <p:nvPr/>
        </p:nvSpPr>
        <p:spPr>
          <a:xfrm>
            <a:off x="3574298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 </a:t>
            </a:r>
            <a:r>
              <a:rPr lang="ko-KR" altLang="en-US" sz="1500" dirty="0" err="1"/>
              <a:t>디버프</a:t>
            </a:r>
            <a:endParaRPr lang="en-US" altLang="ko-KR" sz="1500" dirty="0"/>
          </a:p>
          <a:p>
            <a:pPr algn="ctr"/>
            <a:r>
              <a:rPr lang="ko-KR" altLang="en-US" sz="1500" dirty="0"/>
              <a:t>유도 시작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0FFB4DF-11C2-B61C-6E7F-240F78477E08}"/>
              </a:ext>
            </a:extLst>
          </p:cNvPr>
          <p:cNvSpPr/>
          <p:nvPr/>
        </p:nvSpPr>
        <p:spPr>
          <a:xfrm>
            <a:off x="6379336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무시했던 선택들이</a:t>
            </a:r>
            <a:endParaRPr lang="en-US" altLang="ko-KR" sz="1500" dirty="0"/>
          </a:p>
          <a:p>
            <a:pPr algn="ctr"/>
            <a:r>
              <a:rPr lang="ko-KR" altLang="en-US" sz="1500" dirty="0"/>
              <a:t>환영으로 소환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7FFE06CF-1DC1-1AE6-E7D6-231F925D6647}"/>
              </a:ext>
            </a:extLst>
          </p:cNvPr>
          <p:cNvSpPr/>
          <p:nvPr/>
        </p:nvSpPr>
        <p:spPr>
          <a:xfrm>
            <a:off x="9184374" y="2837445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공격</a:t>
            </a:r>
            <a:r>
              <a:rPr lang="en-US" altLang="ko-KR" sz="1500" dirty="0"/>
              <a:t>, </a:t>
            </a:r>
            <a:r>
              <a:rPr lang="ko-KR" altLang="en-US" sz="1500" dirty="0"/>
              <a:t>회피 등</a:t>
            </a:r>
            <a:r>
              <a:rPr lang="en-US" altLang="ko-KR" sz="1500" dirty="0"/>
              <a:t>) </a:t>
            </a:r>
            <a:r>
              <a:rPr lang="ko-KR" altLang="en-US" sz="1500" dirty="0"/>
              <a:t>봉인 시전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5259CB5-35A6-880C-00D3-C500A066C1BF}"/>
              </a:ext>
            </a:extLst>
          </p:cNvPr>
          <p:cNvSpPr/>
          <p:nvPr/>
        </p:nvSpPr>
        <p:spPr>
          <a:xfrm>
            <a:off x="769257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각</a:t>
            </a:r>
            <a:r>
              <a:rPr lang="en-US" altLang="ko-KR" sz="1500" dirty="0"/>
              <a:t> </a:t>
            </a:r>
            <a:r>
              <a:rPr lang="ko-KR" altLang="en-US" sz="1500" dirty="0"/>
              <a:t>공간별</a:t>
            </a:r>
            <a:endParaRPr lang="en-US" altLang="ko-KR" sz="1500" dirty="0"/>
          </a:p>
          <a:p>
            <a:pPr algn="ctr"/>
            <a:r>
              <a:rPr lang="ko-KR" altLang="en-US" sz="1500" dirty="0"/>
              <a:t>다른 행동 요구 발동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D379713-78F1-34B5-C281-BFA144460D5A}"/>
              </a:ext>
            </a:extLst>
          </p:cNvPr>
          <p:cNvSpPr/>
          <p:nvPr/>
        </p:nvSpPr>
        <p:spPr>
          <a:xfrm>
            <a:off x="3574298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시간에 비례하여</a:t>
            </a:r>
            <a:endParaRPr lang="en-US" altLang="ko-KR" sz="1500" dirty="0"/>
          </a:p>
          <a:p>
            <a:pPr algn="ctr"/>
            <a:r>
              <a:rPr lang="ko-KR" altLang="en-US" sz="1500" dirty="0"/>
              <a:t>압박 누적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FBED50B2-5D6D-63FF-F819-182543341AB0}"/>
              </a:ext>
            </a:extLst>
          </p:cNvPr>
          <p:cNvSpPr/>
          <p:nvPr/>
        </p:nvSpPr>
        <p:spPr>
          <a:xfrm>
            <a:off x="6379336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일정 수 초과 시</a:t>
            </a:r>
            <a:endParaRPr lang="en-US" altLang="ko-KR" sz="1500" dirty="0"/>
          </a:p>
          <a:p>
            <a:pPr algn="ctr"/>
            <a:r>
              <a:rPr lang="ko-KR" altLang="en-US" sz="1500" dirty="0" err="1"/>
              <a:t>즉사급</a:t>
            </a:r>
            <a:r>
              <a:rPr lang="ko-KR" altLang="en-US" sz="1500" dirty="0"/>
              <a:t> 패턴 발동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73585629-EDF8-718E-9496-F6994CC9C111}"/>
              </a:ext>
            </a:extLst>
          </p:cNvPr>
          <p:cNvSpPr/>
          <p:nvPr/>
        </p:nvSpPr>
        <p:spPr>
          <a:xfrm>
            <a:off x="9184374" y="416719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입력 제한</a:t>
            </a:r>
            <a:endParaRPr lang="en-US" altLang="ko-KR" sz="1500" dirty="0"/>
          </a:p>
          <a:p>
            <a:pPr algn="ctr"/>
            <a:r>
              <a:rPr lang="ko-KR" altLang="en-US" sz="1500" dirty="0"/>
              <a:t>패턴 발동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862E0C0-8FC1-00B1-CFAC-5FB80DD027BF}"/>
              </a:ext>
            </a:extLst>
          </p:cNvPr>
          <p:cNvSpPr/>
          <p:nvPr/>
        </p:nvSpPr>
        <p:spPr>
          <a:xfrm>
            <a:off x="769257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공간 통합 및</a:t>
            </a:r>
            <a:endParaRPr lang="en-US" altLang="ko-KR" sz="1500" dirty="0"/>
          </a:p>
          <a:p>
            <a:pPr algn="ctr"/>
            <a:r>
              <a:rPr lang="ko-KR" altLang="en-US" sz="1500" dirty="0"/>
              <a:t>후속 행동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6DA7C322-8CC5-7472-FCBA-AAF4DC25B164}"/>
              </a:ext>
            </a:extLst>
          </p:cNvPr>
          <p:cNvSpPr/>
          <p:nvPr/>
        </p:nvSpPr>
        <p:spPr>
          <a:xfrm>
            <a:off x="3574298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특정 행동</a:t>
            </a:r>
            <a:r>
              <a:rPr lang="en-US" altLang="ko-KR" sz="1500" dirty="0"/>
              <a:t>(</a:t>
            </a:r>
            <a:r>
              <a:rPr lang="ko-KR" altLang="en-US" sz="1500" dirty="0"/>
              <a:t>성소 충돌 등</a:t>
            </a:r>
            <a:r>
              <a:rPr lang="en-US" altLang="ko-KR" sz="1500" dirty="0"/>
              <a:t>)</a:t>
            </a:r>
            <a:r>
              <a:rPr lang="ko-KR" altLang="en-US" sz="1500" dirty="0"/>
              <a:t>으로 구슬 파괴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62D3311D-C7A5-C767-AB26-D3D0F02C37E6}"/>
              </a:ext>
            </a:extLst>
          </p:cNvPr>
          <p:cNvSpPr/>
          <p:nvPr/>
        </p:nvSpPr>
        <p:spPr>
          <a:xfrm>
            <a:off x="6379336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/>
              <a:t>관리형 패턴 종료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8A08FE4A-57BC-FE0D-76BC-9C859898B218}"/>
              </a:ext>
            </a:extLst>
          </p:cNvPr>
          <p:cNvSpPr/>
          <p:nvPr/>
        </p:nvSpPr>
        <p:spPr>
          <a:xfrm>
            <a:off x="9184374" y="5496946"/>
            <a:ext cx="2073450" cy="994743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/>
              <a:t>봉인 해제</a:t>
            </a:r>
            <a:endParaRPr lang="ko-KR" altLang="en-US" sz="1500" dirty="0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7268978C-4CD1-3224-93F0-CD80FEF96171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012E3222-1234-AC86-8BBA-42826E976C56}"/>
              </a:ext>
            </a:extLst>
          </p:cNvPr>
          <p:cNvCxnSpPr>
            <a:cxnSpLocks/>
          </p:cNvCxnSpPr>
          <p:nvPr/>
        </p:nvCxnSpPr>
        <p:spPr>
          <a:xfrm>
            <a:off x="5964326" y="1214309"/>
            <a:ext cx="0" cy="190038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93B1C988-9399-5FBD-FCBD-26C1207BB8DA}"/>
              </a:ext>
            </a:extLst>
          </p:cNvPr>
          <p:cNvCxnSpPr>
            <a:cxnSpLocks/>
          </p:cNvCxnSpPr>
          <p:nvPr/>
        </p:nvCxnSpPr>
        <p:spPr>
          <a:xfrm>
            <a:off x="1805982" y="1404347"/>
            <a:ext cx="8443430" cy="0"/>
          </a:xfrm>
          <a:prstGeom prst="line">
            <a:avLst/>
          </a:prstGeom>
          <a:ln w="12700">
            <a:solidFill>
              <a:srgbClr val="F8F9F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1C39DE30-FBE4-9169-FAA3-960F52C840FA}"/>
              </a:ext>
            </a:extLst>
          </p:cNvPr>
          <p:cNvCxnSpPr>
            <a:cxnSpLocks/>
          </p:cNvCxnSpPr>
          <p:nvPr/>
        </p:nvCxnSpPr>
        <p:spPr>
          <a:xfrm>
            <a:off x="4617701" y="1404346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4CA5C429-BE9E-A53D-3400-5FEC6E92A512}"/>
              </a:ext>
            </a:extLst>
          </p:cNvPr>
          <p:cNvCxnSpPr>
            <a:cxnSpLocks/>
          </p:cNvCxnSpPr>
          <p:nvPr/>
        </p:nvCxnSpPr>
        <p:spPr>
          <a:xfrm>
            <a:off x="7433187" y="1415184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0ED8825D-39AF-11AD-ADDF-D6447A8BF5D2}"/>
              </a:ext>
            </a:extLst>
          </p:cNvPr>
          <p:cNvCxnSpPr>
            <a:cxnSpLocks/>
          </p:cNvCxnSpPr>
          <p:nvPr/>
        </p:nvCxnSpPr>
        <p:spPr>
          <a:xfrm>
            <a:off x="10249412" y="1404345"/>
            <a:ext cx="0" cy="19452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5C882C27-47DE-044C-2BD6-F01F45EC1FB6}"/>
              </a:ext>
            </a:extLst>
          </p:cNvPr>
          <p:cNvCxnSpPr>
            <a:cxnSpLocks/>
            <a:endCxn id="62" idx="0"/>
          </p:cNvCxnSpPr>
          <p:nvPr/>
        </p:nvCxnSpPr>
        <p:spPr>
          <a:xfrm>
            <a:off x="1805982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4847923-16FC-FAE4-1DE6-75A45BC5C05E}"/>
              </a:ext>
            </a:extLst>
          </p:cNvPr>
          <p:cNvCxnSpPr>
            <a:cxnSpLocks/>
          </p:cNvCxnSpPr>
          <p:nvPr/>
        </p:nvCxnSpPr>
        <p:spPr>
          <a:xfrm>
            <a:off x="1805982" y="3832188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1A644BA-8B17-B904-6253-F5F2EECF5312}"/>
              </a:ext>
            </a:extLst>
          </p:cNvPr>
          <p:cNvCxnSpPr>
            <a:cxnSpLocks/>
          </p:cNvCxnSpPr>
          <p:nvPr/>
        </p:nvCxnSpPr>
        <p:spPr>
          <a:xfrm>
            <a:off x="1805982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03EB0AB-F71F-0B48-F949-8CFC6E32F6CD}"/>
              </a:ext>
            </a:extLst>
          </p:cNvPr>
          <p:cNvCxnSpPr>
            <a:cxnSpLocks/>
          </p:cNvCxnSpPr>
          <p:nvPr/>
        </p:nvCxnSpPr>
        <p:spPr>
          <a:xfrm>
            <a:off x="4617701" y="25024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DB7F5955-B0EA-655A-2D46-27D985C9134C}"/>
              </a:ext>
            </a:extLst>
          </p:cNvPr>
          <p:cNvCxnSpPr>
            <a:cxnSpLocks/>
          </p:cNvCxnSpPr>
          <p:nvPr/>
        </p:nvCxnSpPr>
        <p:spPr>
          <a:xfrm>
            <a:off x="4617701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9C6E1CBE-8109-490C-F870-7160D892D170}"/>
              </a:ext>
            </a:extLst>
          </p:cNvPr>
          <p:cNvCxnSpPr>
            <a:cxnSpLocks/>
          </p:cNvCxnSpPr>
          <p:nvPr/>
        </p:nvCxnSpPr>
        <p:spPr>
          <a:xfrm>
            <a:off x="4617743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38BBB29E-5FD4-36DF-6907-246DA1710360}"/>
              </a:ext>
            </a:extLst>
          </p:cNvPr>
          <p:cNvCxnSpPr>
            <a:cxnSpLocks/>
          </p:cNvCxnSpPr>
          <p:nvPr/>
        </p:nvCxnSpPr>
        <p:spPr>
          <a:xfrm>
            <a:off x="7433187" y="251327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D9A624F-3274-5D69-1A0D-CF7DBE09DA8E}"/>
              </a:ext>
            </a:extLst>
          </p:cNvPr>
          <p:cNvCxnSpPr>
            <a:cxnSpLocks/>
          </p:cNvCxnSpPr>
          <p:nvPr/>
        </p:nvCxnSpPr>
        <p:spPr>
          <a:xfrm>
            <a:off x="7433187" y="383218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0482A638-17B7-3070-D52E-7429ECEB571C}"/>
              </a:ext>
            </a:extLst>
          </p:cNvPr>
          <p:cNvCxnSpPr>
            <a:cxnSpLocks/>
          </p:cNvCxnSpPr>
          <p:nvPr/>
        </p:nvCxnSpPr>
        <p:spPr>
          <a:xfrm>
            <a:off x="7433187" y="5161937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D2FC0060-D45F-845A-50D6-A4FB49CD9668}"/>
              </a:ext>
            </a:extLst>
          </p:cNvPr>
          <p:cNvCxnSpPr>
            <a:cxnSpLocks/>
          </p:cNvCxnSpPr>
          <p:nvPr/>
        </p:nvCxnSpPr>
        <p:spPr>
          <a:xfrm>
            <a:off x="10249412" y="2485144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4434CF0-D663-70CE-C993-7096015E1164}"/>
              </a:ext>
            </a:extLst>
          </p:cNvPr>
          <p:cNvCxnSpPr>
            <a:cxnSpLocks/>
          </p:cNvCxnSpPr>
          <p:nvPr/>
        </p:nvCxnSpPr>
        <p:spPr>
          <a:xfrm>
            <a:off x="10249412" y="383218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B0F0035E-EE31-5EE2-0850-D5F4FCD40651}"/>
              </a:ext>
            </a:extLst>
          </p:cNvPr>
          <p:cNvCxnSpPr>
            <a:cxnSpLocks/>
          </p:cNvCxnSpPr>
          <p:nvPr/>
        </p:nvCxnSpPr>
        <p:spPr>
          <a:xfrm>
            <a:off x="10249412" y="5161936"/>
            <a:ext cx="0" cy="335009"/>
          </a:xfrm>
          <a:prstGeom prst="straightConnector1">
            <a:avLst/>
          </a:prstGeom>
          <a:ln w="12700">
            <a:solidFill>
              <a:srgbClr val="F8F9F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129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1583102"/>
            <a:ext cx="1541146" cy="1511300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BF5428"/>
                </a:solidFill>
              </a:rPr>
              <a:t>대기</a:t>
            </a:r>
            <a:endParaRPr lang="en-US" altLang="ko-KR" sz="1500" dirty="0" smtClean="0"/>
          </a:p>
          <a:p>
            <a:pPr algn="ctr"/>
            <a:r>
              <a:rPr lang="ko-KR" altLang="en-US" sz="1500" dirty="0" smtClean="0"/>
              <a:t>낙서</a:t>
            </a:r>
            <a:endParaRPr lang="en-US" altLang="ko-KR" sz="1500" dirty="0" smtClean="0"/>
          </a:p>
          <a:p>
            <a:pPr algn="ctr"/>
            <a:endParaRPr lang="en-US" altLang="ko-KR" sz="1500" dirty="0" smtClean="0"/>
          </a:p>
          <a:p>
            <a:pPr algn="ctr"/>
            <a:r>
              <a:rPr lang="ko-KR" altLang="en-US" sz="1500" dirty="0" smtClean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 smtClean="0"/>
              <a:t>주변 물건 탐색</a:t>
            </a:r>
            <a:endParaRPr lang="en-US" altLang="ko-KR" sz="1500" dirty="0" smtClean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A590E2-8C75-785C-EDAF-BDEE9FF029FA}"/>
              </a:ext>
            </a:extLst>
          </p:cNvPr>
          <p:cNvSpPr txBox="1"/>
          <p:nvPr/>
        </p:nvSpPr>
        <p:spPr>
          <a:xfrm>
            <a:off x="309654" y="366311"/>
            <a:ext cx="519952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애니메이션 로직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8624" y="1304196"/>
            <a:ext cx="757672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생성</a:t>
            </a:r>
            <a:endParaRPr lang="ko-KR" altLang="en-US" sz="15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130419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 smtClean="0"/>
              <a:t>비전투</a:t>
            </a:r>
            <a:endParaRPr lang="ko-KR" altLang="en-US" sz="1500" dirty="0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748126" y="4096642"/>
            <a:ext cx="1541146" cy="1998298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BF5428"/>
                </a:solidFill>
              </a:rPr>
              <a:t>대기</a:t>
            </a:r>
            <a:endParaRPr lang="en-US" altLang="ko-KR" sz="1500" dirty="0"/>
          </a:p>
          <a:p>
            <a:pPr algn="ctr"/>
            <a:r>
              <a:rPr lang="ko-KR" altLang="en-US" sz="1500" dirty="0" smtClean="0"/>
              <a:t>비웃음 </a:t>
            </a:r>
            <a:r>
              <a:rPr lang="en-US" altLang="ko-KR" sz="1500" dirty="0" smtClean="0"/>
              <a:t>/ </a:t>
            </a:r>
            <a:r>
              <a:rPr lang="ko-KR" altLang="en-US" sz="1500" dirty="0" smtClean="0"/>
              <a:t>노려봄</a:t>
            </a:r>
            <a:endParaRPr lang="en-US" altLang="ko-KR" sz="1500" dirty="0" smtClean="0"/>
          </a:p>
          <a:p>
            <a:pPr algn="ctr"/>
            <a:endParaRPr lang="en-US" altLang="ko-KR" sz="1500" dirty="0" smtClean="0"/>
          </a:p>
          <a:p>
            <a:pPr algn="ctr"/>
            <a:r>
              <a:rPr lang="ko-KR" altLang="en-US" sz="1500" dirty="0" smtClean="0">
                <a:solidFill>
                  <a:srgbClr val="BF5428"/>
                </a:solidFill>
              </a:rPr>
              <a:t>이동</a:t>
            </a:r>
            <a:endParaRPr lang="en-US" altLang="ko-KR" sz="1500" dirty="0"/>
          </a:p>
          <a:p>
            <a:pPr algn="ctr"/>
            <a:r>
              <a:rPr lang="ko-KR" altLang="en-US" sz="1500" dirty="0" err="1" smtClean="0"/>
              <a:t>어깨빵</a:t>
            </a:r>
            <a:endParaRPr lang="en-US" altLang="ko-KR" sz="1500" dirty="0" smtClean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1993871" y="3817736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전투</a:t>
            </a:r>
            <a:endParaRPr lang="ko-KR" altLang="en-US" sz="1500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415199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연필 찌르기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공책 휘두르기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지우개 투척</a:t>
            </a:r>
            <a:endParaRPr lang="en-US" altLang="ko-KR" sz="1500" dirty="0" smtClean="0">
              <a:solidFill>
                <a:srgbClr val="FFFFFF"/>
              </a:solidFill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4660944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기본</a:t>
            </a:r>
            <a:r>
              <a:rPr lang="ko-KR" altLang="en-US" sz="1500" dirty="0" smtClean="0"/>
              <a:t> 공격</a:t>
            </a:r>
            <a:endParaRPr lang="ko-KR" altLang="en-US" sz="1500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726918" y="4325208"/>
            <a:ext cx="1541146" cy="1535295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밀치기</a:t>
            </a:r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붙잡기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err="1" smtClean="0">
                <a:solidFill>
                  <a:srgbClr val="FFFFFF"/>
                </a:solidFill>
              </a:rPr>
              <a:t>막나가기</a:t>
            </a:r>
            <a:endParaRPr lang="en-US" altLang="ko-KR" sz="1500" dirty="0" smtClean="0">
              <a:solidFill>
                <a:srgbClr val="FFFFFF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6972663" y="404630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스킬</a:t>
            </a:r>
            <a:endParaRPr lang="ko-KR" altLang="en-US" sz="15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7945637" y="1582078"/>
            <a:ext cx="1541146" cy="156866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주춤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넘어짐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무너짐</a:t>
            </a:r>
            <a:endParaRPr lang="en-US" altLang="ko-KR" sz="1500" dirty="0" smtClean="0">
              <a:solidFill>
                <a:srgbClr val="FFFFFF"/>
              </a:solidFill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8191382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반응</a:t>
            </a:r>
            <a:endParaRPr lang="ko-KR" altLang="en-US" sz="15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509183" y="1582078"/>
            <a:ext cx="1541146" cy="1573889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시비 시작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균형 붕괴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제압</a:t>
            </a:r>
            <a:endParaRPr lang="en-US" altLang="ko-KR" sz="1500" dirty="0" smtClean="0">
              <a:solidFill>
                <a:srgbClr val="FFFFFF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5754928" y="130317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연출</a:t>
            </a:r>
            <a:endParaRPr lang="ko-KR" altLang="en-US" sz="1500" dirty="0"/>
          </a:p>
        </p:txBody>
      </p:sp>
      <p:sp>
        <p:nvSpPr>
          <p:cNvPr id="2" name="직사각형 1"/>
          <p:cNvSpPr/>
          <p:nvPr/>
        </p:nvSpPr>
        <p:spPr>
          <a:xfrm>
            <a:off x="3765558" y="3434873"/>
            <a:ext cx="7448542" cy="2660067"/>
          </a:xfrm>
          <a:prstGeom prst="rect">
            <a:avLst/>
          </a:prstGeom>
          <a:noFill/>
          <a:ln>
            <a:solidFill>
              <a:srgbClr val="FFFFFF">
                <a:alpha val="30000"/>
              </a:srgb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038637" y="4518629"/>
            <a:ext cx="1541146" cy="1135722"/>
          </a:xfrm>
          <a:prstGeom prst="rect">
            <a:avLst/>
          </a:prstGeom>
          <a:noFill/>
          <a:ln w="38100">
            <a:solidFill>
              <a:srgbClr val="2F33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err="1" smtClean="0">
                <a:solidFill>
                  <a:srgbClr val="FFFFFF"/>
                </a:solidFill>
              </a:rPr>
              <a:t>휘청</a:t>
            </a:r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endParaRPr lang="en-US" altLang="ko-KR" sz="1500" dirty="0" smtClean="0">
              <a:solidFill>
                <a:srgbClr val="FFFFFF"/>
              </a:solidFill>
            </a:endParaRPr>
          </a:p>
          <a:p>
            <a:pPr algn="ctr"/>
            <a:r>
              <a:rPr lang="ko-KR" altLang="en-US" sz="1500" dirty="0" smtClean="0">
                <a:solidFill>
                  <a:srgbClr val="FFFFFF"/>
                </a:solidFill>
              </a:rPr>
              <a:t>회피 반격 허용</a:t>
            </a:r>
            <a:endParaRPr lang="en-US" altLang="ko-KR" sz="1500" dirty="0" smtClean="0">
              <a:solidFill>
                <a:srgbClr val="FFFFFF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F77A55D0-A90D-2171-8577-5F2405459876}"/>
              </a:ext>
            </a:extLst>
          </p:cNvPr>
          <p:cNvSpPr/>
          <p:nvPr/>
        </p:nvSpPr>
        <p:spPr>
          <a:xfrm>
            <a:off x="9284382" y="4239722"/>
            <a:ext cx="1049656" cy="386842"/>
          </a:xfrm>
          <a:prstGeom prst="rect">
            <a:avLst/>
          </a:prstGeom>
          <a:solidFill>
            <a:srgbClr val="2F3339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500" dirty="0" smtClean="0"/>
              <a:t>추가 동작</a:t>
            </a:r>
            <a:endParaRPr lang="ko-KR" altLang="en-US" sz="1500" dirty="0"/>
          </a:p>
        </p:txBody>
      </p:sp>
      <p:cxnSp>
        <p:nvCxnSpPr>
          <p:cNvPr id="4" name="직선 화살표 연결선 3"/>
          <p:cNvCxnSpPr>
            <a:stCxn id="57" idx="2"/>
            <a:endCxn id="70" idx="0"/>
          </p:cNvCxnSpPr>
          <p:nvPr/>
        </p:nvCxnSpPr>
        <p:spPr>
          <a:xfrm>
            <a:off x="2518699" y="3094402"/>
            <a:ext cx="0" cy="723334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/>
          <p:cNvCxnSpPr/>
          <p:nvPr/>
        </p:nvCxnSpPr>
        <p:spPr>
          <a:xfrm flipH="1">
            <a:off x="3314674" y="5136766"/>
            <a:ext cx="450884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520726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5202124" y="3688080"/>
            <a:ext cx="4621591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/>
          <p:cNvCxnSpPr/>
          <p:nvPr/>
        </p:nvCxnSpPr>
        <p:spPr>
          <a:xfrm>
            <a:off x="7486915" y="3688080"/>
            <a:ext cx="0" cy="358222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/>
          <p:nvPr/>
        </p:nvCxnSpPr>
        <p:spPr>
          <a:xfrm>
            <a:off x="9823715" y="3688080"/>
            <a:ext cx="0" cy="537333"/>
          </a:xfrm>
          <a:prstGeom prst="straightConnector1">
            <a:avLst/>
          </a:prstGeom>
          <a:ln w="12700">
            <a:solidFill>
              <a:srgbClr val="FFFFFF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/>
          <p:nvPr/>
        </p:nvCxnSpPr>
        <p:spPr>
          <a:xfrm>
            <a:off x="6300511" y="3155967"/>
            <a:ext cx="0" cy="27890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8738911" y="3150747"/>
            <a:ext cx="0" cy="284126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 flipH="1">
            <a:off x="7050329" y="2171700"/>
            <a:ext cx="894324" cy="0"/>
          </a:xfrm>
          <a:prstGeom prst="straightConnector1">
            <a:avLst/>
          </a:prstGeom>
          <a:ln w="12700">
            <a:solidFill>
              <a:srgbClr val="FFFF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/>
          <p:cNvCxnSpPr>
            <a:stCxn id="51" idx="1"/>
            <a:endCxn id="11" idx="3"/>
          </p:cNvCxnSpPr>
          <p:nvPr/>
        </p:nvCxnSpPr>
        <p:spPr>
          <a:xfrm flipH="1">
            <a:off x="1316296" y="1497617"/>
            <a:ext cx="677575" cy="0"/>
          </a:xfrm>
          <a:prstGeom prst="straightConnector1">
            <a:avLst/>
          </a:prstGeom>
          <a:ln w="12700">
            <a:solidFill>
              <a:srgbClr val="FFFFFF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23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EE79C-76D1-C4CD-B430-BBFAAE141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9B8EFA6-365E-2463-3312-CECD673258BF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16347" y="1125975"/>
          <a:ext cx="10994465" cy="5471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135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1413879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3198058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817843">
                  <a:extLst>
                    <a:ext uri="{9D8B030D-6E8A-4147-A177-3AD203B41FA5}">
                      <a16:colId xmlns:a16="http://schemas.microsoft.com/office/drawing/2014/main" val="850404314"/>
                    </a:ext>
                  </a:extLst>
                </a:gridCol>
                <a:gridCol w="1824577">
                  <a:extLst>
                    <a:ext uri="{9D8B030D-6E8A-4147-A177-3AD203B41FA5}">
                      <a16:colId xmlns:a16="http://schemas.microsoft.com/office/drawing/2014/main" val="2355288905"/>
                    </a:ext>
                  </a:extLst>
                </a:gridCol>
                <a:gridCol w="1864973">
                  <a:extLst>
                    <a:ext uri="{9D8B030D-6E8A-4147-A177-3AD203B41FA5}">
                      <a16:colId xmlns:a16="http://schemas.microsoft.com/office/drawing/2014/main" val="295412163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후행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 row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비전투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괜찮은척</a:t>
                      </a: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고통을 숨기고 완벽한 친절을 연기하는 강박적 모션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거친 숨을 고르며 자세를 바로잡음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입꼬리를 억지로 올리며 미소를 지음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떨리는 손을 뒤로 숨기며 시선을 피함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비켜주기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타인을 위해 자신을 낮추는 배려 동작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다수의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가 다가올 때 길을 터줌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고개를 숙여 양보하며 길을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열어둠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지나간 후 조용히 제자리로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5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탈진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자아 마모도가 높아져 한계에 다다른 상태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몸이 무거워지며 어깨가 크게 처짐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발을 질질 끌며 이동 속도가 매우 느려짐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가끔 멈춰 서서 가슴을 부여잡고 통증을 느낌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위령의 포옹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된 옛 친구에게 안식을 주는 비극적 연출</a:t>
                      </a:r>
                      <a:endParaRPr lang="ko-KR" altLang="en-US" sz="1000" b="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괴로운 표정으로 타겟에게 접근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죽어가는 몬스터를 따뜻하게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안아줌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소멸한 자리에 머물다 서서히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일어남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기억 재판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과거의 기억을 환영으로 구현해 공간을 분할함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비눗방울을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불어 공간의 환영 생성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전장 분할 후 작은 방울들을 터뜨림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방울을 손바닥으로 내려쳐 파괴하며 종료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망각의 증식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자장가로 타인을 현실로부터 도피시키는 주술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수면잠옷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환복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후 요정봉으로 자장가 연주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수면 상태의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NPC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에게 주술을 거는 동작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대상 변이 확인 후 잠옷과 도구 정리</a:t>
                      </a:r>
                      <a:endParaRPr lang="ko-KR" altLang="en-US" sz="1000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7D5241-6F8B-F7D6-1361-183A06DF94DF}"/>
              </a:ext>
            </a:extLst>
          </p:cNvPr>
          <p:cNvSpPr txBox="1"/>
          <p:nvPr/>
        </p:nvSpPr>
        <p:spPr>
          <a:xfrm>
            <a:off x="616347" y="369518"/>
            <a:ext cx="1099327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</a:t>
            </a:r>
            <a:r>
              <a:rPr lang="ko-KR" altLang="en-US" sz="3000" dirty="0" smtClean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리스트 </a:t>
            </a:r>
            <a:r>
              <a:rPr lang="en-US" altLang="ko-KR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스킬 명</a:t>
            </a:r>
            <a:r>
              <a:rPr lang="en-US" altLang="ko-KR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세부 사항 약간 수정 필요</a:t>
            </a:r>
            <a:endParaRPr lang="ko-KR" altLang="en-US" sz="3000" dirty="0">
              <a:solidFill>
                <a:srgbClr val="F8F9FA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059187A-CBA0-5B9A-F673-311272A05F76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72FFEE0-C813-A99D-E163-B282DB0A5663}"/>
              </a:ext>
            </a:extLst>
          </p:cNvPr>
          <p:cNvCxnSpPr>
            <a:cxnSpLocks/>
          </p:cNvCxnSpPr>
          <p:nvPr/>
        </p:nvCxnSpPr>
        <p:spPr>
          <a:xfrm>
            <a:off x="1501775" y="2374039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3D65DBD-A305-1E5B-2769-EDE7DE6ED557}"/>
              </a:ext>
            </a:extLst>
          </p:cNvPr>
          <p:cNvCxnSpPr>
            <a:cxnSpLocks/>
          </p:cNvCxnSpPr>
          <p:nvPr/>
        </p:nvCxnSpPr>
        <p:spPr>
          <a:xfrm>
            <a:off x="1491853" y="3221479"/>
            <a:ext cx="10118958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F016C68-32CA-CFDD-8943-8986D68D7D24}"/>
              </a:ext>
            </a:extLst>
          </p:cNvPr>
          <p:cNvCxnSpPr>
            <a:cxnSpLocks/>
          </p:cNvCxnSpPr>
          <p:nvPr/>
        </p:nvCxnSpPr>
        <p:spPr>
          <a:xfrm>
            <a:off x="616347" y="491230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A4A24E-8648-AB02-F119-0A46B196D3EF}"/>
              </a:ext>
            </a:extLst>
          </p:cNvPr>
          <p:cNvCxnSpPr>
            <a:cxnSpLocks/>
          </p:cNvCxnSpPr>
          <p:nvPr/>
        </p:nvCxnSpPr>
        <p:spPr>
          <a:xfrm>
            <a:off x="616347" y="406775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7B81486F-50FF-3C7C-C596-0474ECBA32FB}"/>
              </a:ext>
            </a:extLst>
          </p:cNvPr>
          <p:cNvCxnSpPr>
            <a:cxnSpLocks/>
          </p:cNvCxnSpPr>
          <p:nvPr/>
        </p:nvCxnSpPr>
        <p:spPr>
          <a:xfrm>
            <a:off x="1500584" y="5757510"/>
            <a:ext cx="10109036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E3012C7-A68A-E93A-19F5-D0D30F9ED367}"/>
              </a:ext>
            </a:extLst>
          </p:cNvPr>
          <p:cNvCxnSpPr>
            <a:cxnSpLocks/>
          </p:cNvCxnSpPr>
          <p:nvPr/>
        </p:nvCxnSpPr>
        <p:spPr>
          <a:xfrm>
            <a:off x="616347" y="6603864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9006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5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A1DCAEA-82C6-EC3A-C921-641A3513F6AA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16346" y="1125975"/>
          <a:ext cx="10993274" cy="54695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7721">
                  <a:extLst>
                    <a:ext uri="{9D8B030D-6E8A-4147-A177-3AD203B41FA5}">
                      <a16:colId xmlns:a16="http://schemas.microsoft.com/office/drawing/2014/main" val="1760504680"/>
                    </a:ext>
                  </a:extLst>
                </a:gridCol>
                <a:gridCol w="2404104">
                  <a:extLst>
                    <a:ext uri="{9D8B030D-6E8A-4147-A177-3AD203B41FA5}">
                      <a16:colId xmlns:a16="http://schemas.microsoft.com/office/drawing/2014/main" val="370599139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82224707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89865077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457932106"/>
                    </a:ext>
                  </a:extLst>
                </a:gridCol>
                <a:gridCol w="1596572">
                  <a:extLst>
                    <a:ext uri="{9D8B030D-6E8A-4147-A177-3AD203B41FA5}">
                      <a16:colId xmlns:a16="http://schemas.microsoft.com/office/drawing/2014/main" val="697435515"/>
                    </a:ext>
                  </a:extLst>
                </a:gridCol>
                <a:gridCol w="1471391">
                  <a:extLst>
                    <a:ext uri="{9D8B030D-6E8A-4147-A177-3AD203B41FA5}">
                      <a16:colId xmlns:a16="http://schemas.microsoft.com/office/drawing/2014/main" val="2511473805"/>
                    </a:ext>
                  </a:extLst>
                </a:gridCol>
              </a:tblGrid>
              <a:tr h="394872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동작 타입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컨셉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준비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진행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7342522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원거리에서 구체를 날려 주인공의 심리를 위축시키는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견제기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방향 예고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전조 알림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생성 및 발사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가능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구체 가속 및 타격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무효화 불가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타격 성공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소멸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공격 찬스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모션으로 복귀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798336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 공격 </a:t>
                      </a:r>
                      <a:r>
                        <a:rPr lang="en-US" altLang="ko-KR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다가오는 주인공을 매정하게 밀쳐내 거리를 벌림</a:t>
                      </a:r>
                      <a:endParaRPr lang="ko-KR" altLang="en-US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왼손을 뒤로 크게 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손바닥에 어두운 기운이 서림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왼손으로 적을 강하게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밀쳐냄</a:t>
                      </a:r>
                      <a:endParaRPr lang="ko-KR" altLang="en-US" sz="1000" dirty="0">
                        <a:solidFill>
                          <a:srgbClr val="F8F9FA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적이 밀려나며 공격 판정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무게중심 이동 및 자세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3731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스킬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내려쳐 주인공이 발붙일 곳을 없애는 광범위 공격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양손을 머리 위로 높게 들어 올림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에너지를 응집 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손에 이펙트 집중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지면을 강하게 내려쳐 충격파 발생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지면 먼지 효과 및 타격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손을 크게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휘저으며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자세 가다듬음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9948897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임계점을 넘어 내면의 어두운 </a:t>
                      </a:r>
                      <a:r>
                        <a:rPr lang="ko-KR" altLang="en-US" sz="1000" dirty="0" err="1">
                          <a:solidFill>
                            <a:srgbClr val="F8F9FA"/>
                          </a:solidFill>
                        </a:rPr>
                        <a:t>본습이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 완전히 드러나는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머리를 붙잡고 고개를 깊게 숙임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신음하며 몸이 공중으로 떠오름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이마가 갈라지며 세 번째 눈 개안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강력한 파동과 함께 변신 완료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새로운 위압적 대기 포즈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252163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도발</a:t>
                      </a:r>
                      <a:endParaRPr lang="en-US" altLang="ko-KR" sz="1000" b="1" dirty="0">
                        <a:solidFill>
                          <a:srgbClr val="F8F9FA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도발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주인공의 발버둥을 가소롭다는 듯 가련하게 여기는 행동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</a:rPr>
                        <a:t>기본 대기 모션에서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플레이어를 향해 가소롭다는 손짓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어깨를 들썩이며 비웃는 연출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짧은 무적 판정과 함께 연출 종료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</a:rPr>
                        <a:t>전투 대기 상태로 전환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48931"/>
                  </a:ext>
                </a:extLst>
              </a:tr>
              <a:tr h="84577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rgbClr val="F8F9FA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승리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기존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: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자아도취</a:t>
                      </a:r>
                      <a:r>
                        <a:rPr lang="en-US" altLang="ko-KR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) </a:t>
                      </a: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주인공을 완전히 무너뜨린 후 느끼는 광기 어린 기쁨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모든 플레이어 사망 확인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자신의 손을 보며 힘의 강함에 취함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화면 전체에 어두운 아우라 방출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오만한 포즈로 승리 고정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000" dirty="0">
                          <a:solidFill>
                            <a:srgbClr val="F8F9FA"/>
                          </a:solidFill>
                          <a:effectLst/>
                          <a:latin typeface="Google Sans Text"/>
                        </a:rPr>
                        <a:t>연출 종료 시까지 모션 유지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85833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616347" y="369518"/>
            <a:ext cx="1080639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BF542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</a:t>
            </a:r>
            <a:r>
              <a:rPr lang="en-US" altLang="ko-KR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3000" dirty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애니메이션 </a:t>
            </a:r>
            <a:r>
              <a:rPr lang="ko-KR" altLang="en-US" sz="3000" dirty="0" smtClean="0">
                <a:solidFill>
                  <a:srgbClr val="F8F9FA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리스트 </a:t>
            </a:r>
            <a:r>
              <a:rPr lang="en-US" altLang="ko-KR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=&gt; </a:t>
            </a:r>
            <a:r>
              <a:rPr lang="ko-KR" altLang="en-US" sz="3000" dirty="0" smtClean="0">
                <a:solidFill>
                  <a:srgbClr val="00B05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바꿔서 수정 필요</a:t>
            </a:r>
            <a:endParaRPr lang="ko-KR" altLang="en-US" sz="3000" dirty="0">
              <a:solidFill>
                <a:srgbClr val="00B05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733BEFE1-EDFA-07B1-9CD5-569E33B83E47}"/>
              </a:ext>
            </a:extLst>
          </p:cNvPr>
          <p:cNvCxnSpPr>
            <a:cxnSpLocks/>
          </p:cNvCxnSpPr>
          <p:nvPr/>
        </p:nvCxnSpPr>
        <p:spPr>
          <a:xfrm>
            <a:off x="616347" y="1617581"/>
            <a:ext cx="10994464" cy="0"/>
          </a:xfrm>
          <a:prstGeom prst="line">
            <a:avLst/>
          </a:prstGeom>
          <a:ln w="25400">
            <a:solidFill>
              <a:srgbClr val="BF54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72A0350-934E-A9B7-631E-FFBECFCCAF82}"/>
              </a:ext>
            </a:extLst>
          </p:cNvPr>
          <p:cNvCxnSpPr>
            <a:cxnSpLocks/>
          </p:cNvCxnSpPr>
          <p:nvPr/>
        </p:nvCxnSpPr>
        <p:spPr>
          <a:xfrm>
            <a:off x="616346" y="2366893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9BCC6CA-A502-63DE-0A92-83833E662231}"/>
              </a:ext>
            </a:extLst>
          </p:cNvPr>
          <p:cNvCxnSpPr>
            <a:cxnSpLocks/>
          </p:cNvCxnSpPr>
          <p:nvPr/>
        </p:nvCxnSpPr>
        <p:spPr>
          <a:xfrm>
            <a:off x="616346" y="3213142"/>
            <a:ext cx="10994465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10FFEA4-DFB0-C6B8-2D07-84D9DD2221C3}"/>
              </a:ext>
            </a:extLst>
          </p:cNvPr>
          <p:cNvCxnSpPr>
            <a:cxnSpLocks/>
          </p:cNvCxnSpPr>
          <p:nvPr/>
        </p:nvCxnSpPr>
        <p:spPr>
          <a:xfrm>
            <a:off x="616347" y="490396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1AFC349-4F76-4C43-0FB9-E0686511B751}"/>
              </a:ext>
            </a:extLst>
          </p:cNvPr>
          <p:cNvCxnSpPr>
            <a:cxnSpLocks/>
          </p:cNvCxnSpPr>
          <p:nvPr/>
        </p:nvCxnSpPr>
        <p:spPr>
          <a:xfrm>
            <a:off x="616347" y="4057036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233AAB3-7D6F-0423-1A26-F07123AB1B31}"/>
              </a:ext>
            </a:extLst>
          </p:cNvPr>
          <p:cNvCxnSpPr>
            <a:cxnSpLocks/>
          </p:cNvCxnSpPr>
          <p:nvPr/>
        </p:nvCxnSpPr>
        <p:spPr>
          <a:xfrm>
            <a:off x="616346" y="5749173"/>
            <a:ext cx="1099327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4B702C2-085D-DD28-1F7E-06A4DBD1C951}"/>
              </a:ext>
            </a:extLst>
          </p:cNvPr>
          <p:cNvCxnSpPr>
            <a:cxnSpLocks/>
          </p:cNvCxnSpPr>
          <p:nvPr/>
        </p:nvCxnSpPr>
        <p:spPr>
          <a:xfrm>
            <a:off x="616347" y="6595527"/>
            <a:ext cx="10994464" cy="0"/>
          </a:xfrm>
          <a:prstGeom prst="line">
            <a:avLst/>
          </a:prstGeom>
          <a:ln w="6350">
            <a:solidFill>
              <a:srgbClr val="F8F9FA">
                <a:alpha val="5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92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99110-CC72-0AE1-2B8A-5DFED15B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6DF59BD-CD30-E5D7-4023-F8C2CEFD13E8}"/>
              </a:ext>
            </a:extLst>
          </p:cNvPr>
          <p:cNvSpPr txBox="1"/>
          <p:nvPr/>
        </p:nvSpPr>
        <p:spPr>
          <a:xfrm>
            <a:off x="950175" y="659804"/>
            <a:ext cx="1080639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보스 컨셉 구체화</a:t>
            </a:r>
            <a:endParaRPr lang="en-US" altLang="ko-KR" sz="3000" dirty="0" smtClean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컨셉에 맞게 스킬 만들기</a:t>
            </a:r>
            <a:endParaRPr lang="en-US" altLang="ko-KR" sz="3000" dirty="0" smtClean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잘 어울리는 지 확인</a:t>
            </a:r>
            <a:endParaRPr lang="en-US" altLang="ko-KR" sz="3000" dirty="0" smtClean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임팩트 있게 수정</a:t>
            </a:r>
            <a:endParaRPr lang="en-US" altLang="ko-KR" sz="3000" dirty="0" smtClean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실제 게임 화면 생각해보기</a:t>
            </a:r>
            <a:endParaRPr lang="en-US" altLang="ko-KR" sz="3000" dirty="0" smtClean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3000" dirty="0" err="1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쯔꾸르에서</a:t>
            </a:r>
            <a:r>
              <a:rPr lang="ko-KR" altLang="en-US" sz="3000" dirty="0" smtClean="0">
                <a:solidFill>
                  <a:srgbClr val="22252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장르 변경 고민하기</a:t>
            </a:r>
            <a:endParaRPr lang="ko-KR" altLang="en-US" sz="3000" dirty="0">
              <a:solidFill>
                <a:srgbClr val="22252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329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186" y="441785"/>
            <a:ext cx="9517628" cy="597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022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손에 비누칠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 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불기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생성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터뜨리기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도구 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이런 느낌으로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여러 개 불 수도 ㅇ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9162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 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불기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생성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도구 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이런 느낌으로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여러 개 불 수도 ㅇ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3374018" y="175032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NPC </a:t>
            </a:r>
            <a:r>
              <a:rPr lang="ko-KR" altLang="en-US" smtClean="0">
                <a:solidFill>
                  <a:schemeClr val="tx1"/>
                </a:solidFill>
              </a:rPr>
              <a:t>변이 후 바로 진행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883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324554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" name="직사각형 3"/>
          <p:cNvSpPr/>
          <p:nvPr/>
        </p:nvSpPr>
        <p:spPr>
          <a:xfrm>
            <a:off x="2613666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선택의 분기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3666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손 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준비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613666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불기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413766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613666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생성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413766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952199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16" name="직사각형 15"/>
          <p:cNvSpPr/>
          <p:nvPr/>
        </p:nvSpPr>
        <p:spPr>
          <a:xfrm>
            <a:off x="5241311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환영 폭주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241311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수면 잠옷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요정봉</a:t>
            </a:r>
            <a:endParaRPr lang="en-US" altLang="ko-KR" sz="1500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241311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자장가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241311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NPC </a:t>
            </a:r>
            <a:r>
              <a:rPr lang="ko-KR" altLang="en-US" sz="1500" smtClean="0">
                <a:solidFill>
                  <a:schemeClr val="tx1"/>
                </a:solidFill>
              </a:rPr>
              <a:t>수면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041411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041411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241311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NPC </a:t>
            </a:r>
            <a:r>
              <a:rPr lang="ko-KR" altLang="en-US" sz="1500" smtClean="0">
                <a:solidFill>
                  <a:schemeClr val="tx1"/>
                </a:solidFill>
              </a:rPr>
              <a:t>몬스터화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041411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241311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잠옷 개고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요정봉 정리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041411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84933" y="3043003"/>
            <a:ext cx="1600200" cy="834158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도구 준비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(</a:t>
            </a:r>
            <a:r>
              <a:rPr lang="ko-KR" altLang="en-US" sz="1500" smtClean="0">
                <a:solidFill>
                  <a:schemeClr val="tx1"/>
                </a:solidFill>
              </a:rPr>
              <a:t>가방 뒤지기</a:t>
            </a:r>
            <a:r>
              <a:rPr lang="en-US" altLang="ko-KR" sz="1500" smtClean="0">
                <a:solidFill>
                  <a:schemeClr val="tx1"/>
                </a:solidFill>
              </a:rPr>
              <a:t>)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51264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4" name="직사각형 33"/>
          <p:cNvSpPr/>
          <p:nvPr/>
        </p:nvSpPr>
        <p:spPr>
          <a:xfrm>
            <a:off x="780175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행동 봉인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80175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수갑 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780175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수갑 채우기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860185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780175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감옥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860185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780175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열쇠로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석방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860185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6635473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z="1500" smtClean="0">
                <a:solidFill>
                  <a:schemeClr val="tx1"/>
                </a:solidFill>
              </a:rPr>
              <a:t>?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7035063" y="-23359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원거리 공격만 가능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8635263" y="-2387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근거리 공격 시 수갑 채움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7801758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경찰복 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이런 느낌으로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여러 개 불 수도 ㅇ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3" name="직사각형 52"/>
          <p:cNvSpPr/>
          <p:nvPr/>
        </p:nvSpPr>
        <p:spPr>
          <a:xfrm>
            <a:off x="982363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1011274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전가 불가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11274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 호각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011274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구령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57" name="직선 화살표 연결선 56"/>
          <p:cNvCxnSpPr>
            <a:stCxn id="55" idx="2"/>
            <a:endCxn id="56" idx="0"/>
          </p:cNvCxnSpPr>
          <p:nvPr/>
        </p:nvCxnSpPr>
        <p:spPr>
          <a:xfrm>
            <a:off x="1091284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1011274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QTE</a:t>
            </a:r>
          </a:p>
          <a:p>
            <a:pPr algn="ctr"/>
            <a:r>
              <a:rPr lang="en-US" altLang="ko-KR" sz="1000" smtClean="0">
                <a:solidFill>
                  <a:schemeClr val="tx1"/>
                </a:solidFill>
              </a:rPr>
              <a:t>(Quick Time Event)</a:t>
            </a:r>
            <a:endParaRPr lang="ko-KR" altLang="en-US" sz="100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/>
          <p:cNvCxnSpPr>
            <a:endCxn id="58" idx="0"/>
          </p:cNvCxnSpPr>
          <p:nvPr/>
        </p:nvCxnSpPr>
        <p:spPr>
          <a:xfrm>
            <a:off x="1091284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1011274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차렷</a:t>
            </a:r>
            <a:r>
              <a:rPr lang="en-US" altLang="ko-KR" sz="1500" smtClean="0">
                <a:solidFill>
                  <a:schemeClr val="tx1"/>
                </a:solidFill>
              </a:rPr>
              <a:t>!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/>
          <p:cNvCxnSpPr>
            <a:endCxn id="60" idx="0"/>
          </p:cNvCxnSpPr>
          <p:nvPr/>
        </p:nvCxnSpPr>
        <p:spPr>
          <a:xfrm>
            <a:off x="1091284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1011274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조교</a:t>
            </a:r>
            <a:endParaRPr lang="ko-KR" altLang="en-US" sz="15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890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비누 꺼내고 손에 비눗물 묻힘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 생성 준비 동작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 생성 및 구조 대상 등장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플레이어가 각 대상에 맞는 선행 수행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결과에 따른 후속 행동 및 딜 타임 발생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가방 뒤지기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62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874</Words>
  <Application>Microsoft Office PowerPoint</Application>
  <PresentationFormat>와이드스크린</PresentationFormat>
  <Paragraphs>307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Google Sans Text</vt:lpstr>
      <vt:lpstr>KoddiUD 온고딕 Regular</vt:lpstr>
      <vt:lpstr>맑은 고딕</vt:lpstr>
      <vt:lpstr>Arial</vt:lpstr>
      <vt:lpstr>Office 테마</vt:lpstr>
      <vt:lpstr>게임 기획: 보스 스킬 애니메이션 로직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게임 기획: 보스 스킬 애니메이션 로직</dc:title>
  <dc:creator>FullName</dc:creator>
  <cp:lastModifiedBy>FullName</cp:lastModifiedBy>
  <cp:revision>12</cp:revision>
  <dcterms:created xsi:type="dcterms:W3CDTF">2026-04-24T05:06:39Z</dcterms:created>
  <dcterms:modified xsi:type="dcterms:W3CDTF">2026-04-24T06:49:44Z</dcterms:modified>
</cp:coreProperties>
</file>