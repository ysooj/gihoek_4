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2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2520" y="-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2415-5657-4ED6-9D0F-BC5112FA2A0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03AF-193D-4642-ADA5-631166342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80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2415-5657-4ED6-9D0F-BC5112FA2A0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03AF-193D-4642-ADA5-631166342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068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2415-5657-4ED6-9D0F-BC5112FA2A0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03AF-193D-4642-ADA5-631166342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589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2415-5657-4ED6-9D0F-BC5112FA2A0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03AF-193D-4642-ADA5-631166342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44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2415-5657-4ED6-9D0F-BC5112FA2A0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03AF-193D-4642-ADA5-631166342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29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2415-5657-4ED6-9D0F-BC5112FA2A0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03AF-193D-4642-ADA5-631166342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73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2415-5657-4ED6-9D0F-BC5112FA2A0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03AF-193D-4642-ADA5-631166342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88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2415-5657-4ED6-9D0F-BC5112FA2A0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03AF-193D-4642-ADA5-631166342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85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2415-5657-4ED6-9D0F-BC5112FA2A0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03AF-193D-4642-ADA5-631166342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19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2415-5657-4ED6-9D0F-BC5112FA2A0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03AF-193D-4642-ADA5-631166342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606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2415-5657-4ED6-9D0F-BC5112FA2A0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C03AF-193D-4642-ADA5-631166342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277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C2415-5657-4ED6-9D0F-BC5112FA2A0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C03AF-193D-4642-ADA5-631166342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71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화면 안의 영역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공간이라는 영역에 어떻게 배치하면 좋을 지를 생각해보자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탑뷰</a:t>
            </a:r>
            <a:r>
              <a:rPr lang="en-US" altLang="ko-KR" smtClean="0"/>
              <a:t>(90</a:t>
            </a:r>
            <a:r>
              <a:rPr lang="ko-KR" altLang="en-US" smtClean="0"/>
              <a:t>도로 위에서 내려다보는 시점</a:t>
            </a:r>
            <a:r>
              <a:rPr lang="en-US" altLang="ko-KR" smtClean="0"/>
              <a:t>)</a:t>
            </a:r>
            <a:r>
              <a:rPr lang="ko-KR" altLang="en-US" smtClean="0"/>
              <a:t>으로 어떻게 배치할 지에 대해 </a:t>
            </a:r>
            <a:r>
              <a:rPr lang="en-US" altLang="ko-KR" smtClean="0"/>
              <a:t>2</a:t>
            </a:r>
            <a:r>
              <a:rPr lang="ko-KR" altLang="en-US" smtClean="0"/>
              <a:t>가지를 고민해야 함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균형의 아름다움</a:t>
            </a:r>
            <a:r>
              <a:rPr lang="en-US" altLang="ko-KR" smtClean="0"/>
              <a:t>(</a:t>
            </a:r>
            <a:r>
              <a:rPr lang="ko-KR" altLang="en-US" smtClean="0"/>
              <a:t>아트</a:t>
            </a:r>
            <a:r>
              <a:rPr lang="en-US" altLang="ko-KR" smtClean="0"/>
              <a:t>)</a:t>
            </a:r>
          </a:p>
          <a:p>
            <a:pPr lvl="1"/>
            <a:r>
              <a:rPr lang="ko-KR" altLang="en-US" smtClean="0"/>
              <a:t>리얼리티와는 반대된다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게임 플레이에 필요하게</a:t>
            </a:r>
            <a:endParaRPr lang="en-US" altLang="ko-KR"/>
          </a:p>
          <a:p>
            <a:pPr lvl="1"/>
            <a:r>
              <a:rPr lang="ko-KR" altLang="en-US" smtClean="0"/>
              <a:t>플레이의 동선</a:t>
            </a:r>
            <a:r>
              <a:rPr lang="en-US" altLang="ko-KR" smtClean="0"/>
              <a:t>(Way Point)</a:t>
            </a:r>
            <a:r>
              <a:rPr lang="ko-KR" altLang="en-US" smtClean="0"/>
              <a:t>을 고려해서</a:t>
            </a:r>
            <a:endParaRPr lang="en-US" altLang="ko-KR" smtClean="0"/>
          </a:p>
          <a:p>
            <a:r>
              <a:rPr lang="ko-KR" altLang="en-US" b="1" smtClean="0"/>
              <a:t>배열</a:t>
            </a:r>
            <a:r>
              <a:rPr lang="en-US" altLang="ko-KR" b="1" smtClean="0"/>
              <a:t>.</a:t>
            </a:r>
            <a:r>
              <a:rPr lang="ko-KR" altLang="en-US" b="1" smtClean="0"/>
              <a:t>배치의 이유가 합당</a:t>
            </a:r>
            <a:r>
              <a:rPr lang="ko-KR" altLang="en-US" smtClean="0"/>
              <a:t>하면 </a:t>
            </a:r>
            <a:r>
              <a:rPr lang="en-US" altLang="ko-KR" smtClean="0"/>
              <a:t>=&gt; </a:t>
            </a:r>
            <a:r>
              <a:rPr lang="ko-KR" altLang="en-US" smtClean="0"/>
              <a:t>그걸 </a:t>
            </a:r>
            <a:r>
              <a:rPr lang="ko-KR" altLang="en-US" b="1" smtClean="0"/>
              <a:t>기록</a:t>
            </a:r>
            <a:r>
              <a:rPr lang="ko-KR" altLang="en-US" smtClean="0"/>
              <a:t>하자 </a:t>
            </a:r>
            <a:r>
              <a:rPr lang="en-US" altLang="ko-KR" smtClean="0"/>
              <a:t>=&gt; </a:t>
            </a:r>
            <a:r>
              <a:rPr lang="ko-KR" altLang="en-US" smtClean="0"/>
              <a:t>이게 </a:t>
            </a:r>
            <a:r>
              <a:rPr lang="ko-KR" altLang="en-US" b="1" smtClean="0"/>
              <a:t>면접 멘트 준비</a:t>
            </a:r>
            <a:r>
              <a:rPr lang="ko-KR" altLang="en-US" smtClean="0"/>
              <a:t>가 된다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099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실무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(</a:t>
            </a:r>
            <a:r>
              <a:rPr lang="ko-KR" altLang="en-US" smtClean="0"/>
              <a:t>대부분은</a:t>
            </a:r>
            <a:r>
              <a:rPr lang="en-US" altLang="ko-KR" smtClean="0"/>
              <a:t>) (</a:t>
            </a:r>
            <a:r>
              <a:rPr lang="ko-KR" altLang="en-US" smtClean="0"/>
              <a:t>오픈 베타</a:t>
            </a:r>
            <a:r>
              <a:rPr lang="en-US" altLang="ko-KR" smtClean="0"/>
              <a:t>,</a:t>
            </a:r>
            <a:r>
              <a:rPr lang="ko-KR" altLang="en-US" smtClean="0"/>
              <a:t>출시 후</a:t>
            </a:r>
            <a:r>
              <a:rPr lang="en-US" altLang="ko-KR" smtClean="0"/>
              <a:t>)</a:t>
            </a:r>
            <a:r>
              <a:rPr lang="ko-KR" altLang="en-US" smtClean="0"/>
              <a:t> 배경을 이미 구현 후 플레이 시에 수정하기도 함</a:t>
            </a:r>
            <a:endParaRPr lang="en-US" altLang="ko-KR" smtClean="0"/>
          </a:p>
          <a:p>
            <a:r>
              <a:rPr lang="ko-KR" altLang="en-US" smtClean="0"/>
              <a:t>미리 수정하면 좋겠지만</a:t>
            </a:r>
            <a:r>
              <a:rPr lang="en-US" altLang="ko-KR" smtClean="0"/>
              <a:t>…</a:t>
            </a:r>
          </a:p>
          <a:p>
            <a:endParaRPr lang="en-US" altLang="ko-KR" smtClean="0"/>
          </a:p>
          <a:p>
            <a:r>
              <a:rPr lang="en-US" altLang="ko-KR" smtClean="0"/>
              <a:t>Level</a:t>
            </a:r>
            <a:r>
              <a:rPr lang="ko-KR" altLang="en-US" smtClean="0"/>
              <a:t>을 모두 잘 알아야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다음 달에 배울 것임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434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비 전투 게임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아이데이션</a:t>
            </a:r>
            <a:endParaRPr lang="en-US" altLang="ko-KR" smtClean="0"/>
          </a:p>
          <a:p>
            <a:r>
              <a:rPr lang="ko-KR" altLang="en-US" smtClean="0"/>
              <a:t>동작을 구성하는 아이디어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255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0572" y="533010"/>
            <a:ext cx="88537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일상</a:t>
            </a:r>
            <a:endParaRPr lang="ko-KR" altLang="en-US" sz="1500"/>
          </a:p>
        </p:txBody>
      </p:sp>
      <p:sp>
        <p:nvSpPr>
          <p:cNvPr id="7" name="TextBox 6"/>
          <p:cNvSpPr txBox="1"/>
          <p:nvPr/>
        </p:nvSpPr>
        <p:spPr>
          <a:xfrm>
            <a:off x="580572" y="2184402"/>
            <a:ext cx="88537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돌발</a:t>
            </a:r>
            <a:endParaRPr lang="ko-KR" altLang="en-US" sz="1500"/>
          </a:p>
        </p:txBody>
      </p:sp>
      <p:sp>
        <p:nvSpPr>
          <p:cNvPr id="8" name="TextBox 7"/>
          <p:cNvSpPr txBox="1"/>
          <p:nvPr/>
        </p:nvSpPr>
        <p:spPr>
          <a:xfrm>
            <a:off x="580571" y="3835793"/>
            <a:ext cx="88537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전투</a:t>
            </a:r>
            <a:endParaRPr lang="ko-KR" altLang="en-US" sz="1500"/>
          </a:p>
        </p:txBody>
      </p:sp>
      <p:sp>
        <p:nvSpPr>
          <p:cNvPr id="9" name="TextBox 8"/>
          <p:cNvSpPr txBox="1"/>
          <p:nvPr/>
        </p:nvSpPr>
        <p:spPr>
          <a:xfrm>
            <a:off x="580571" y="5487184"/>
            <a:ext cx="88537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대기</a:t>
            </a:r>
            <a:endParaRPr lang="ko-KR" altLang="en-US" sz="1500"/>
          </a:p>
        </p:txBody>
      </p:sp>
      <p:sp>
        <p:nvSpPr>
          <p:cNvPr id="10" name="TextBox 9"/>
          <p:cNvSpPr txBox="1"/>
          <p:nvPr/>
        </p:nvSpPr>
        <p:spPr>
          <a:xfrm>
            <a:off x="1407886" y="533010"/>
            <a:ext cx="11901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비켜주기</a:t>
            </a:r>
            <a:endParaRPr lang="ko-KR" altLang="en-US" sz="1500"/>
          </a:p>
        </p:txBody>
      </p:sp>
      <p:sp>
        <p:nvSpPr>
          <p:cNvPr id="11" name="TextBox 10"/>
          <p:cNvSpPr txBox="1"/>
          <p:nvPr/>
        </p:nvSpPr>
        <p:spPr>
          <a:xfrm>
            <a:off x="1407886" y="2184402"/>
            <a:ext cx="11901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탈진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1407886" y="3835793"/>
            <a:ext cx="11901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포옹</a:t>
            </a:r>
            <a:endParaRPr lang="ko-KR" altLang="en-US" sz="1500"/>
          </a:p>
        </p:txBody>
      </p:sp>
      <p:sp>
        <p:nvSpPr>
          <p:cNvPr id="13" name="TextBox 12"/>
          <p:cNvSpPr txBox="1"/>
          <p:nvPr/>
        </p:nvSpPr>
        <p:spPr>
          <a:xfrm>
            <a:off x="1407886" y="5487184"/>
            <a:ext cx="11901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괜찮은 척</a:t>
            </a:r>
            <a:endParaRPr lang="ko-KR" altLang="en-US" sz="1500"/>
          </a:p>
        </p:txBody>
      </p:sp>
      <p:sp>
        <p:nvSpPr>
          <p:cNvPr id="14" name="TextBox 13"/>
          <p:cNvSpPr txBox="1"/>
          <p:nvPr/>
        </p:nvSpPr>
        <p:spPr>
          <a:xfrm>
            <a:off x="9398000" y="533010"/>
            <a:ext cx="19086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보답 없는 선의에 대한 허탈함</a:t>
            </a:r>
            <a:endParaRPr lang="ko-KR" altLang="en-US" sz="1500"/>
          </a:p>
        </p:txBody>
      </p:sp>
      <p:sp>
        <p:nvSpPr>
          <p:cNvPr id="15" name="TextBox 14"/>
          <p:cNvSpPr txBox="1"/>
          <p:nvPr/>
        </p:nvSpPr>
        <p:spPr>
          <a:xfrm>
            <a:off x="9398000" y="2184402"/>
            <a:ext cx="190863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당연시되는 희생</a:t>
            </a:r>
            <a:endParaRPr lang="ko-KR" altLang="en-US" sz="1500"/>
          </a:p>
        </p:txBody>
      </p:sp>
      <p:sp>
        <p:nvSpPr>
          <p:cNvPr id="16" name="TextBox 15"/>
          <p:cNvSpPr txBox="1"/>
          <p:nvPr/>
        </p:nvSpPr>
        <p:spPr>
          <a:xfrm>
            <a:off x="9397999" y="3835793"/>
            <a:ext cx="19086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상처까지 품는 비극적인 구원</a:t>
            </a:r>
            <a:endParaRPr lang="ko-KR" altLang="en-US" sz="1500"/>
          </a:p>
        </p:txBody>
      </p:sp>
      <p:sp>
        <p:nvSpPr>
          <p:cNvPr id="17" name="TextBox 16"/>
          <p:cNvSpPr txBox="1"/>
          <p:nvPr/>
        </p:nvSpPr>
        <p:spPr>
          <a:xfrm>
            <a:off x="9397999" y="5487184"/>
            <a:ext cx="19086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무너지지 않으려는 자기 최면</a:t>
            </a:r>
            <a:endParaRPr lang="ko-KR" altLang="en-US" sz="1500"/>
          </a:p>
        </p:txBody>
      </p:sp>
      <p:sp>
        <p:nvSpPr>
          <p:cNvPr id="18" name="TextBox 17"/>
          <p:cNvSpPr txBox="1"/>
          <p:nvPr/>
        </p:nvSpPr>
        <p:spPr>
          <a:xfrm>
            <a:off x="2514602" y="528991"/>
            <a:ext cx="35088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다수의 </a:t>
            </a:r>
            <a:r>
              <a:rPr lang="en-US" altLang="ko-KR" sz="1500" smtClean="0"/>
              <a:t>NPC</a:t>
            </a:r>
            <a:r>
              <a:rPr lang="ko-KR" altLang="en-US" sz="1500" smtClean="0"/>
              <a:t>가 올 때 길을 터주지만</a:t>
            </a:r>
            <a:r>
              <a:rPr lang="en-US" altLang="ko-KR" sz="1500" smtClean="0"/>
              <a:t>, NPC</a:t>
            </a:r>
            <a:r>
              <a:rPr lang="ko-KR" altLang="en-US" sz="1500" smtClean="0"/>
              <a:t>는 주인공의 어깨를 치고 지나감</a:t>
            </a:r>
            <a:endParaRPr lang="ko-KR" altLang="en-US" sz="1500"/>
          </a:p>
        </p:txBody>
      </p:sp>
      <p:sp>
        <p:nvSpPr>
          <p:cNvPr id="19" name="TextBox 18"/>
          <p:cNvSpPr txBox="1"/>
          <p:nvPr/>
        </p:nvSpPr>
        <p:spPr>
          <a:xfrm>
            <a:off x="2514601" y="2184402"/>
            <a:ext cx="35088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보스전 직후</a:t>
            </a:r>
            <a:r>
              <a:rPr lang="en-US" altLang="ko-KR" sz="1500" smtClean="0"/>
              <a:t>, </a:t>
            </a:r>
            <a:r>
              <a:rPr lang="ko-KR" altLang="en-US" sz="1500" smtClean="0"/>
              <a:t>극도로 지친 주인공에게 </a:t>
            </a:r>
            <a:r>
              <a:rPr lang="en-US" altLang="ko-KR" sz="1500" smtClean="0"/>
              <a:t>NPC</a:t>
            </a:r>
            <a:r>
              <a:rPr lang="ko-KR" altLang="en-US" sz="1500" smtClean="0"/>
              <a:t>가 무거운 짐 운반을 요청</a:t>
            </a:r>
            <a:endParaRPr lang="ko-KR" altLang="en-US" sz="1500"/>
          </a:p>
        </p:txBody>
      </p:sp>
      <p:sp>
        <p:nvSpPr>
          <p:cNvPr id="20" name="TextBox 19"/>
          <p:cNvSpPr txBox="1"/>
          <p:nvPr/>
        </p:nvSpPr>
        <p:spPr>
          <a:xfrm>
            <a:off x="6125029" y="528991"/>
            <a:ext cx="30915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주인공은 잠시 주춤하며 옷 매무새를 다듬음</a:t>
            </a:r>
            <a:endParaRPr lang="ko-KR" altLang="en-US" sz="1500"/>
          </a:p>
        </p:txBody>
      </p:sp>
      <p:sp>
        <p:nvSpPr>
          <p:cNvPr id="21" name="TextBox 20"/>
          <p:cNvSpPr txBox="1"/>
          <p:nvPr/>
        </p:nvSpPr>
        <p:spPr>
          <a:xfrm>
            <a:off x="6125029" y="2184402"/>
            <a:ext cx="30915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수락 시 이동 속도가 대폭 저하됨</a:t>
            </a:r>
            <a:endParaRPr lang="ko-KR" altLang="en-US" sz="1500"/>
          </a:p>
        </p:txBody>
      </p:sp>
      <p:sp>
        <p:nvSpPr>
          <p:cNvPr id="22" name="TextBox 21"/>
          <p:cNvSpPr txBox="1"/>
          <p:nvPr/>
        </p:nvSpPr>
        <p:spPr>
          <a:xfrm>
            <a:off x="2514601" y="3835793"/>
            <a:ext cx="35088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전투의 마지막</a:t>
            </a:r>
            <a:r>
              <a:rPr lang="en-US" altLang="ko-KR" sz="1500" smtClean="0"/>
              <a:t>, </a:t>
            </a:r>
            <a:r>
              <a:rPr lang="ko-KR" altLang="en-US" sz="1500" smtClean="0"/>
              <a:t>괴물이 된 옛 친구를 안아주며 마무리</a:t>
            </a:r>
            <a:endParaRPr lang="ko-KR" altLang="en-US" sz="1500"/>
          </a:p>
        </p:txBody>
      </p:sp>
      <p:sp>
        <p:nvSpPr>
          <p:cNvPr id="23" name="TextBox 22"/>
          <p:cNvSpPr txBox="1"/>
          <p:nvPr/>
        </p:nvSpPr>
        <p:spPr>
          <a:xfrm>
            <a:off x="2514601" y="5487184"/>
            <a:ext cx="35088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대기 상태 혹은 자아 마모 수치가 급격히 떨어졌을 때 발동</a:t>
            </a:r>
            <a:endParaRPr lang="ko-KR" altLang="en-US" sz="1500"/>
          </a:p>
        </p:txBody>
      </p:sp>
      <p:sp>
        <p:nvSpPr>
          <p:cNvPr id="24" name="TextBox 23"/>
          <p:cNvSpPr txBox="1"/>
          <p:nvPr/>
        </p:nvSpPr>
        <p:spPr>
          <a:xfrm>
            <a:off x="6125029" y="3835793"/>
            <a:ext cx="30915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친구의 고통을 자신의 자아 마모 게이지로 흡수함</a:t>
            </a:r>
            <a:endParaRPr lang="ko-KR" altLang="en-US" sz="1500"/>
          </a:p>
        </p:txBody>
      </p:sp>
      <p:sp>
        <p:nvSpPr>
          <p:cNvPr id="25" name="TextBox 24"/>
          <p:cNvSpPr txBox="1"/>
          <p:nvPr/>
        </p:nvSpPr>
        <p:spPr>
          <a:xfrm>
            <a:off x="6125029" y="5487184"/>
            <a:ext cx="30915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smtClean="0"/>
              <a:t>거친 숨을 고르며 억지로 입꼬리를 올리거나</a:t>
            </a:r>
            <a:r>
              <a:rPr lang="en-US" altLang="ko-KR" sz="1500" smtClean="0"/>
              <a:t>, </a:t>
            </a:r>
            <a:r>
              <a:rPr lang="ko-KR" altLang="en-US" sz="1500" smtClean="0"/>
              <a:t>떨리는 손을 숨김</a:t>
            </a:r>
            <a:endParaRPr lang="ko-KR" altLang="en-US" sz="1500"/>
          </a:p>
        </p:txBody>
      </p:sp>
    </p:spTree>
    <p:extLst>
      <p:ext uri="{BB962C8B-B14F-4D97-AF65-F5344CB8AC3E}">
        <p14:creationId xmlns:p14="http://schemas.microsoft.com/office/powerpoint/2010/main" val="1598996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186" y="441785"/>
            <a:ext cx="9517628" cy="597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67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828" y="574497"/>
            <a:ext cx="4412344" cy="570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256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애니메이션 리스트 </a:t>
            </a:r>
            <a:r>
              <a:rPr lang="en-US" altLang="ko-KR" smtClean="0"/>
              <a:t>(</a:t>
            </a:r>
            <a:r>
              <a:rPr lang="ko-KR" altLang="en-US" smtClean="0"/>
              <a:t>동작 항목 표</a:t>
            </a:r>
            <a:r>
              <a:rPr lang="en-US" altLang="ko-KR" smtClean="0"/>
              <a:t>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애니메이션의 실질적 리스트 작성하기</a:t>
            </a:r>
            <a:endParaRPr lang="en-US" altLang="ko-KR" smtClean="0"/>
          </a:p>
          <a:p>
            <a:r>
              <a:rPr lang="ko-KR" altLang="en-US" smtClean="0"/>
              <a:t>애니메이터</a:t>
            </a:r>
            <a:r>
              <a:rPr lang="en-US" altLang="ko-KR" smtClean="0"/>
              <a:t>, </a:t>
            </a:r>
            <a:r>
              <a:rPr lang="ko-KR" altLang="en-US" smtClean="0"/>
              <a:t>이펙터를 위해서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할 수 있는 만큼의 필요한 내용을 적으면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각 동작에 대해 컨셉과 </a:t>
            </a:r>
            <a:r>
              <a:rPr lang="en-US" altLang="ko-KR" smtClean="0"/>
              <a:t>3,5</a:t>
            </a:r>
            <a:r>
              <a:rPr lang="ko-KR" altLang="en-US" smtClean="0"/>
              <a:t>단 구분으로 나줘서 동작을 설명하고</a:t>
            </a:r>
            <a:r>
              <a:rPr lang="en-US" altLang="ko-KR" smtClean="0"/>
              <a:t>, 0.x</a:t>
            </a:r>
            <a:r>
              <a:rPr lang="ko-KR" altLang="en-US" smtClean="0"/>
              <a:t>초 단위로 시간도 넣어주면 좋다</a:t>
            </a:r>
            <a:r>
              <a:rPr lang="en-US" altLang="ko-KR" smtClean="0"/>
              <a:t>.(</a:t>
            </a:r>
            <a:r>
              <a:rPr lang="ko-KR" altLang="en-US" smtClean="0"/>
              <a:t>시간 되면</a:t>
            </a:r>
            <a:r>
              <a:rPr lang="en-US" altLang="ko-KR" smtClean="0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049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336154"/>
              </p:ext>
            </p:extLst>
          </p:nvPr>
        </p:nvGraphicFramePr>
        <p:xfrm>
          <a:off x="914401" y="2299084"/>
          <a:ext cx="10773030" cy="3532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4606">
                  <a:extLst>
                    <a:ext uri="{9D8B030D-6E8A-4147-A177-3AD203B41FA5}">
                      <a16:colId xmlns:a16="http://schemas.microsoft.com/office/drawing/2014/main" val="3156901607"/>
                    </a:ext>
                  </a:extLst>
                </a:gridCol>
                <a:gridCol w="2154606">
                  <a:extLst>
                    <a:ext uri="{9D8B030D-6E8A-4147-A177-3AD203B41FA5}">
                      <a16:colId xmlns:a16="http://schemas.microsoft.com/office/drawing/2014/main" val="4208256560"/>
                    </a:ext>
                  </a:extLst>
                </a:gridCol>
                <a:gridCol w="6463818">
                  <a:extLst>
                    <a:ext uri="{9D8B030D-6E8A-4147-A177-3AD203B41FA5}">
                      <a16:colId xmlns:a16="http://schemas.microsoft.com/office/drawing/2014/main" val="2767795771"/>
                    </a:ext>
                  </a:extLst>
                </a:gridCol>
              </a:tblGrid>
              <a:tr h="7065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/>
                        <a:t>구분</a:t>
                      </a:r>
                      <a:endParaRPr lang="ko-KR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/>
                        <a:t>동작의 타입</a:t>
                      </a:r>
                      <a:endParaRPr lang="ko-KR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/>
                        <a:t>내용</a:t>
                      </a:r>
                      <a:endParaRPr lang="ko-KR" altLang="en-US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006164"/>
                  </a:ext>
                </a:extLst>
              </a:tr>
              <a:tr h="70651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비 전투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괜찮은 척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거친 숨을 고르며 억지로 입꼬리를 올리거나</a:t>
                      </a:r>
                      <a:r>
                        <a:rPr lang="en-US" altLang="ko-KR" sz="1500" smtClean="0"/>
                        <a:t>, </a:t>
                      </a:r>
                      <a:r>
                        <a:rPr lang="ko-KR" altLang="en-US" sz="1500" smtClean="0"/>
                        <a:t>떨리는 손을 숨긴다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044339"/>
                  </a:ext>
                </a:extLst>
              </a:tr>
              <a:tr h="70651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비켜주기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다수의 </a:t>
                      </a:r>
                      <a:r>
                        <a:rPr lang="en-US" altLang="ko-KR" sz="1500" smtClean="0"/>
                        <a:t>NPC</a:t>
                      </a:r>
                      <a:r>
                        <a:rPr lang="ko-KR" altLang="en-US" sz="1500" smtClean="0"/>
                        <a:t>가 올 때 길을 터준다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509444"/>
                  </a:ext>
                </a:extLst>
              </a:tr>
              <a:tr h="70651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탈진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보스전 직후</a:t>
                      </a:r>
                      <a:r>
                        <a:rPr lang="en-US" altLang="ko-KR" sz="1500" baseline="0" smtClean="0"/>
                        <a:t> </a:t>
                      </a:r>
                      <a:r>
                        <a:rPr lang="ko-KR" altLang="en-US" sz="1500" baseline="0" smtClean="0"/>
                        <a:t>도움 요청을 수락 시</a:t>
                      </a:r>
                      <a:r>
                        <a:rPr lang="en-US" altLang="ko-KR" sz="1500" baseline="0" smtClean="0"/>
                        <a:t>,</a:t>
                      </a:r>
                      <a:r>
                        <a:rPr lang="ko-KR" altLang="en-US" sz="1500" smtClean="0"/>
                        <a:t> 이동 속도가 매우 느려진다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638376"/>
                  </a:ext>
                </a:extLst>
              </a:tr>
              <a:tr h="7065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전투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포옹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슬프고 괴로워하면서 죽어가는 몬스터</a:t>
                      </a:r>
                      <a:r>
                        <a:rPr lang="en-US" altLang="ko-KR" sz="1500" smtClean="0"/>
                        <a:t>(</a:t>
                      </a:r>
                      <a:r>
                        <a:rPr lang="ko-KR" altLang="en-US" sz="1500" smtClean="0"/>
                        <a:t>옛 친구</a:t>
                      </a:r>
                      <a:r>
                        <a:rPr lang="en-US" altLang="ko-KR" sz="1500" smtClean="0"/>
                        <a:t>)</a:t>
                      </a:r>
                      <a:r>
                        <a:rPr lang="ko-KR" altLang="en-US" sz="1500" smtClean="0"/>
                        <a:t>를 안아준다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129316"/>
                  </a:ext>
                </a:extLst>
              </a:tr>
            </a:tbl>
          </a:graphicData>
        </a:graphic>
      </p:graphicFrame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주인공 애니메이션 리스트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393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114503"/>
              </p:ext>
            </p:extLst>
          </p:nvPr>
        </p:nvGraphicFramePr>
        <p:xfrm>
          <a:off x="914401" y="1690688"/>
          <a:ext cx="10773030" cy="4775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9485">
                  <a:extLst>
                    <a:ext uri="{9D8B030D-6E8A-4147-A177-3AD203B41FA5}">
                      <a16:colId xmlns:a16="http://schemas.microsoft.com/office/drawing/2014/main" val="3156901607"/>
                    </a:ext>
                  </a:extLst>
                </a:gridCol>
                <a:gridCol w="2148114">
                  <a:extLst>
                    <a:ext uri="{9D8B030D-6E8A-4147-A177-3AD203B41FA5}">
                      <a16:colId xmlns:a16="http://schemas.microsoft.com/office/drawing/2014/main" val="4208256560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2767795771"/>
                    </a:ext>
                  </a:extLst>
                </a:gridCol>
                <a:gridCol w="6142974">
                  <a:extLst>
                    <a:ext uri="{9D8B030D-6E8A-4147-A177-3AD203B41FA5}">
                      <a16:colId xmlns:a16="http://schemas.microsoft.com/office/drawing/2014/main" val="808842687"/>
                    </a:ext>
                  </a:extLst>
                </a:gridCol>
              </a:tblGrid>
              <a:tr h="7065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/>
                        <a:t>구분</a:t>
                      </a:r>
                      <a:endParaRPr lang="ko-KR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/>
                        <a:t>동작의 타입</a:t>
                      </a:r>
                      <a:endParaRPr lang="ko-KR" altLang="en-US" b="1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/>
                        <a:t>내용</a:t>
                      </a:r>
                      <a:endParaRPr lang="ko-KR" altLang="en-US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06164"/>
                  </a:ext>
                </a:extLst>
              </a:tr>
              <a:tr h="235504">
                <a:tc rowSpan="12"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스킬</a:t>
                      </a:r>
                      <a:endParaRPr lang="ko-KR" altLang="en-US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기억 재판</a:t>
                      </a:r>
                      <a:r>
                        <a:rPr lang="en-US" altLang="ko-KR" sz="1800" smtClean="0"/>
                        <a:t>:</a:t>
                      </a:r>
                    </a:p>
                    <a:p>
                      <a:pPr algn="ctr" latinLnBrk="1"/>
                      <a:r>
                        <a:rPr lang="ko-KR" altLang="en-US" sz="1800" smtClean="0"/>
                        <a:t>선택의 분기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전장을 </a:t>
                      </a:r>
                      <a:r>
                        <a:rPr lang="en-US" altLang="ko-KR" sz="1500" smtClean="0"/>
                        <a:t>2~3</a:t>
                      </a:r>
                      <a:r>
                        <a:rPr lang="ko-KR" altLang="en-US" sz="1500" smtClean="0"/>
                        <a:t>개의 </a:t>
                      </a:r>
                      <a:r>
                        <a:rPr lang="en-US" altLang="ko-KR" sz="1500" smtClean="0"/>
                        <a:t>‘</a:t>
                      </a:r>
                      <a:r>
                        <a:rPr lang="ko-KR" altLang="en-US" sz="1500" smtClean="0"/>
                        <a:t>개별적인 도움 요청 공간</a:t>
                      </a:r>
                      <a:r>
                        <a:rPr lang="en-US" altLang="ko-KR" sz="1500" smtClean="0"/>
                        <a:t>’</a:t>
                      </a:r>
                      <a:r>
                        <a:rPr lang="ko-KR" altLang="en-US" sz="1500" smtClean="0"/>
                        <a:t>으로 분할한다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104789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선행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비누를 꺼내 손 비눗방울을 불어서</a:t>
                      </a:r>
                      <a:r>
                        <a:rPr lang="ko-KR" altLang="en-US" sz="1500" baseline="0" smtClean="0"/>
                        <a:t> 공간의 환영을 생성한다</a:t>
                      </a:r>
                      <a:r>
                        <a:rPr lang="en-US" altLang="ko-KR" sz="1500" baseline="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044339"/>
                  </a:ext>
                </a:extLst>
              </a:tr>
              <a:tr h="235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진행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작은 비눗방울들을 터뜨린다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299135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시간 내 수행하지 않을 시</a:t>
                      </a:r>
                      <a:r>
                        <a:rPr lang="en-US" altLang="ko-KR" sz="1500" smtClean="0"/>
                        <a:t>, </a:t>
                      </a:r>
                      <a:r>
                        <a:rPr lang="ko-KR" altLang="en-US" sz="1500" smtClean="0"/>
                        <a:t>손바닥으로 비눗방울을 아래로 내려쳐 터뜨린다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57879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망각의 증식</a:t>
                      </a:r>
                      <a:r>
                        <a:rPr lang="en-US" altLang="ko-KR" sz="1800" smtClean="0"/>
                        <a:t>:</a:t>
                      </a:r>
                    </a:p>
                    <a:p>
                      <a:pPr algn="ctr" latinLnBrk="1"/>
                      <a:r>
                        <a:rPr lang="ko-KR" altLang="en-US" sz="1800" smtClean="0"/>
                        <a:t>환영 폭주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컨셉</a:t>
                      </a:r>
                      <a:endParaRPr lang="ko-KR" altLang="en-US" sz="150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자장가를 불러서 </a:t>
                      </a:r>
                      <a:r>
                        <a:rPr lang="en-US" altLang="ko-KR" sz="1500" smtClean="0"/>
                        <a:t>NPC</a:t>
                      </a:r>
                      <a:r>
                        <a:rPr lang="ko-KR" altLang="en-US" sz="1500" smtClean="0"/>
                        <a:t>를 수면 상태로 만든다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257902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선행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수면잠옷을 입고 요정봉을 흔들며 자장가를 부른다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638376"/>
                  </a:ext>
                </a:extLst>
              </a:tr>
              <a:tr h="235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진행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수면 상태의 </a:t>
                      </a:r>
                      <a:r>
                        <a:rPr lang="en-US" altLang="ko-KR" sz="1500" smtClean="0"/>
                        <a:t>NPC</a:t>
                      </a:r>
                      <a:r>
                        <a:rPr lang="ko-KR" altLang="en-US" sz="1500" smtClean="0"/>
                        <a:t>를 향해 주술을 건다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414655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시간 초과 시 </a:t>
                      </a:r>
                      <a:r>
                        <a:rPr lang="en-US" altLang="ko-KR" sz="1500" smtClean="0"/>
                        <a:t>NPC</a:t>
                      </a:r>
                      <a:r>
                        <a:rPr lang="ko-KR" altLang="en-US" sz="1500" smtClean="0"/>
                        <a:t>를 몬스터로 변이시키고 잠옷과 요정봉을 정리한다</a:t>
                      </a:r>
                      <a:r>
                        <a:rPr lang="en-US" altLang="ko-KR" sz="1500" smtClean="0"/>
                        <a:t>.</a:t>
                      </a:r>
                      <a:r>
                        <a:rPr lang="ko-KR" altLang="en-US" sz="1500" smtClean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572266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강제 선행</a:t>
                      </a:r>
                      <a:r>
                        <a:rPr lang="en-US" altLang="ko-KR" sz="1800" smtClean="0"/>
                        <a:t>:</a:t>
                      </a:r>
                    </a:p>
                    <a:p>
                      <a:pPr algn="ctr" latinLnBrk="1"/>
                      <a:r>
                        <a:rPr lang="ko-KR" altLang="en-US" sz="1800" smtClean="0"/>
                        <a:t>행동 봉인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컨셉</a:t>
                      </a:r>
                      <a:endParaRPr lang="ko-KR" altLang="en-US" sz="150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특정 행동을 수행하게 명령한다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034540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mtClean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선행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smtClean="0"/>
                        <a:t>30cm </a:t>
                      </a:r>
                      <a:r>
                        <a:rPr lang="ko-KR" altLang="en-US" sz="1500" smtClean="0"/>
                        <a:t>자를 들고 안경을 낀다</a:t>
                      </a:r>
                      <a:r>
                        <a:rPr lang="en-US" altLang="ko-KR" sz="1500" smtClean="0"/>
                        <a:t>.(</a:t>
                      </a:r>
                      <a:r>
                        <a:rPr lang="ko-KR" altLang="en-US" sz="1500" smtClean="0"/>
                        <a:t>선생님처럼</a:t>
                      </a:r>
                      <a:r>
                        <a:rPr lang="en-US" altLang="ko-KR" sz="1500" smtClean="0"/>
                        <a:t>)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129316"/>
                  </a:ext>
                </a:extLst>
              </a:tr>
              <a:tr h="235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진행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여러 가지 행동들을 지시한다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15648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학교 종소리가 울리면서 교실 문 밖으로 나간다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234150"/>
                  </a:ext>
                </a:extLst>
              </a:tr>
            </a:tbl>
          </a:graphicData>
        </a:graphic>
      </p:graphicFrame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보스 애니메이션 리스트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132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62609"/>
              </p:ext>
            </p:extLst>
          </p:nvPr>
        </p:nvGraphicFramePr>
        <p:xfrm>
          <a:off x="914401" y="1690688"/>
          <a:ext cx="10773030" cy="4775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9485">
                  <a:extLst>
                    <a:ext uri="{9D8B030D-6E8A-4147-A177-3AD203B41FA5}">
                      <a16:colId xmlns:a16="http://schemas.microsoft.com/office/drawing/2014/main" val="3156901607"/>
                    </a:ext>
                  </a:extLst>
                </a:gridCol>
                <a:gridCol w="2148114">
                  <a:extLst>
                    <a:ext uri="{9D8B030D-6E8A-4147-A177-3AD203B41FA5}">
                      <a16:colId xmlns:a16="http://schemas.microsoft.com/office/drawing/2014/main" val="4208256560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2767795771"/>
                    </a:ext>
                  </a:extLst>
                </a:gridCol>
                <a:gridCol w="6142974">
                  <a:extLst>
                    <a:ext uri="{9D8B030D-6E8A-4147-A177-3AD203B41FA5}">
                      <a16:colId xmlns:a16="http://schemas.microsoft.com/office/drawing/2014/main" val="808842687"/>
                    </a:ext>
                  </a:extLst>
                </a:gridCol>
              </a:tblGrid>
              <a:tr h="7065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/>
                        <a:t>구분</a:t>
                      </a:r>
                      <a:endParaRPr lang="ko-KR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/>
                        <a:t>동작의 타입</a:t>
                      </a:r>
                      <a:endParaRPr lang="ko-KR" altLang="en-US" b="1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/>
                        <a:t>내용</a:t>
                      </a:r>
                      <a:endParaRPr lang="ko-KR" altLang="en-US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06164"/>
                  </a:ext>
                </a:extLst>
              </a:tr>
              <a:tr h="235504">
                <a:tc rowSpan="12"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스킬</a:t>
                      </a:r>
                      <a:endParaRPr lang="ko-KR" altLang="en-US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기억 재판</a:t>
                      </a:r>
                      <a:r>
                        <a:rPr lang="en-US" altLang="ko-KR" sz="1800" smtClean="0"/>
                        <a:t>:</a:t>
                      </a:r>
                    </a:p>
                    <a:p>
                      <a:pPr algn="ctr" latinLnBrk="1"/>
                      <a:r>
                        <a:rPr lang="ko-KR" altLang="en-US" sz="1800" smtClean="0"/>
                        <a:t>선택의 분기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전장을 </a:t>
                      </a:r>
                      <a:r>
                        <a:rPr lang="en-US" altLang="ko-KR" sz="1500" smtClean="0"/>
                        <a:t>2~3</a:t>
                      </a:r>
                      <a:r>
                        <a:rPr lang="ko-KR" altLang="en-US" sz="1500" smtClean="0"/>
                        <a:t>개의 </a:t>
                      </a:r>
                      <a:r>
                        <a:rPr lang="en-US" altLang="ko-KR" sz="1500" smtClean="0"/>
                        <a:t>‘</a:t>
                      </a:r>
                      <a:r>
                        <a:rPr lang="ko-KR" altLang="en-US" sz="1500" smtClean="0"/>
                        <a:t>개별적인 도움 요청 공간</a:t>
                      </a:r>
                      <a:r>
                        <a:rPr lang="en-US" altLang="ko-KR" sz="1500" smtClean="0"/>
                        <a:t>’</a:t>
                      </a:r>
                      <a:r>
                        <a:rPr lang="ko-KR" altLang="en-US" sz="1500" smtClean="0"/>
                        <a:t>으로 분할한다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104789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선행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비누를 꺼내 손 비눗방울을 불어서</a:t>
                      </a:r>
                      <a:r>
                        <a:rPr lang="ko-KR" altLang="en-US" sz="1500" baseline="0" smtClean="0"/>
                        <a:t> 공간의 환영을 생성한다</a:t>
                      </a:r>
                      <a:r>
                        <a:rPr lang="en-US" altLang="ko-KR" sz="1500" baseline="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044339"/>
                  </a:ext>
                </a:extLst>
              </a:tr>
              <a:tr h="235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진행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작은 비눗방울들을 터뜨린다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299135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시간 내 수행하지 않을 시</a:t>
                      </a:r>
                      <a:r>
                        <a:rPr lang="en-US" altLang="ko-KR" sz="1500" smtClean="0"/>
                        <a:t>, </a:t>
                      </a:r>
                      <a:r>
                        <a:rPr lang="ko-KR" altLang="en-US" sz="1500" smtClean="0"/>
                        <a:t>손바닥으로 비눗방울을 아래로 내려쳐 터뜨린다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57879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망각의 증식</a:t>
                      </a:r>
                      <a:r>
                        <a:rPr lang="en-US" altLang="ko-KR" sz="1800" smtClean="0"/>
                        <a:t>:</a:t>
                      </a:r>
                    </a:p>
                    <a:p>
                      <a:pPr algn="ctr" latinLnBrk="1"/>
                      <a:r>
                        <a:rPr lang="ko-KR" altLang="en-US" sz="1800" smtClean="0"/>
                        <a:t>환영 폭주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컨셉</a:t>
                      </a:r>
                      <a:endParaRPr lang="ko-KR" altLang="en-US" sz="150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자장가를 불러서 </a:t>
                      </a:r>
                      <a:r>
                        <a:rPr lang="en-US" altLang="ko-KR" sz="1500" smtClean="0"/>
                        <a:t>NPC</a:t>
                      </a:r>
                      <a:r>
                        <a:rPr lang="ko-KR" altLang="en-US" sz="1500" smtClean="0"/>
                        <a:t>를 수면 상태로 만든다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257902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선행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수면잠옷을 입고 요정봉을 흔들며 자장가를 부른다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638376"/>
                  </a:ext>
                </a:extLst>
              </a:tr>
              <a:tr h="235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진행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수면 상태의 </a:t>
                      </a:r>
                      <a:r>
                        <a:rPr lang="en-US" altLang="ko-KR" sz="1500" smtClean="0"/>
                        <a:t>NPC</a:t>
                      </a:r>
                      <a:r>
                        <a:rPr lang="ko-KR" altLang="en-US" sz="1500" smtClean="0"/>
                        <a:t>를 향해 주술을 건다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414655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시간 초과 시 </a:t>
                      </a:r>
                      <a:r>
                        <a:rPr lang="en-US" altLang="ko-KR" sz="1500" smtClean="0"/>
                        <a:t>NPC</a:t>
                      </a:r>
                      <a:r>
                        <a:rPr lang="ko-KR" altLang="en-US" sz="1500" smtClean="0"/>
                        <a:t>를 몬스터로 변이시키고 잠옷과 요정봉을 정리한다</a:t>
                      </a:r>
                      <a:r>
                        <a:rPr lang="en-US" altLang="ko-KR" sz="1500" smtClean="0"/>
                        <a:t>.</a:t>
                      </a:r>
                      <a:r>
                        <a:rPr lang="ko-KR" altLang="en-US" sz="1500" smtClean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572266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강제 선행</a:t>
                      </a:r>
                      <a:r>
                        <a:rPr lang="en-US" altLang="ko-KR" sz="1800" smtClean="0"/>
                        <a:t>:</a:t>
                      </a:r>
                    </a:p>
                    <a:p>
                      <a:pPr algn="ctr" latinLnBrk="1"/>
                      <a:r>
                        <a:rPr lang="ko-KR" altLang="en-US" sz="1800" smtClean="0"/>
                        <a:t>행동 봉인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컨셉</a:t>
                      </a:r>
                      <a:endParaRPr lang="ko-KR" altLang="en-US" sz="150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특정 행동을 수행하게 명령한다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034540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mtClean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선행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경찰복으로 갈아입고 수갑을 든다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129316"/>
                  </a:ext>
                </a:extLst>
              </a:tr>
              <a:tr h="235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진행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여러 가지 행동들을 지시한다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15648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지시 불이행 시 감옥에 넣는다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234150"/>
                  </a:ext>
                </a:extLst>
              </a:tr>
            </a:tbl>
          </a:graphicData>
        </a:graphic>
      </p:graphicFrame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보스 애니메이션 리스트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56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914401" y="1690688"/>
          <a:ext cx="10773030" cy="4775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9485">
                  <a:extLst>
                    <a:ext uri="{9D8B030D-6E8A-4147-A177-3AD203B41FA5}">
                      <a16:colId xmlns:a16="http://schemas.microsoft.com/office/drawing/2014/main" val="3156901607"/>
                    </a:ext>
                  </a:extLst>
                </a:gridCol>
                <a:gridCol w="2148114">
                  <a:extLst>
                    <a:ext uri="{9D8B030D-6E8A-4147-A177-3AD203B41FA5}">
                      <a16:colId xmlns:a16="http://schemas.microsoft.com/office/drawing/2014/main" val="4208256560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2767795771"/>
                    </a:ext>
                  </a:extLst>
                </a:gridCol>
                <a:gridCol w="6142974">
                  <a:extLst>
                    <a:ext uri="{9D8B030D-6E8A-4147-A177-3AD203B41FA5}">
                      <a16:colId xmlns:a16="http://schemas.microsoft.com/office/drawing/2014/main" val="808842687"/>
                    </a:ext>
                  </a:extLst>
                </a:gridCol>
              </a:tblGrid>
              <a:tr h="7065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/>
                        <a:t>구분</a:t>
                      </a:r>
                      <a:endParaRPr lang="ko-KR" alt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/>
                        <a:t>동작의 타입</a:t>
                      </a:r>
                      <a:endParaRPr lang="ko-KR" altLang="en-US" b="1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/>
                        <a:t>내용</a:t>
                      </a:r>
                      <a:endParaRPr lang="ko-KR" altLang="en-US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06164"/>
                  </a:ext>
                </a:extLst>
              </a:tr>
              <a:tr h="235504">
                <a:tc rowSpan="12"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/>
                        <a:t>스킬</a:t>
                      </a:r>
                      <a:endParaRPr lang="ko-KR" altLang="en-US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기억 재판</a:t>
                      </a:r>
                      <a:r>
                        <a:rPr lang="en-US" altLang="ko-KR" sz="1800" smtClean="0"/>
                        <a:t>:</a:t>
                      </a:r>
                    </a:p>
                    <a:p>
                      <a:pPr algn="ctr" latinLnBrk="1"/>
                      <a:r>
                        <a:rPr lang="ko-KR" altLang="en-US" sz="1800" smtClean="0"/>
                        <a:t>선택의 분기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전장을 </a:t>
                      </a:r>
                      <a:r>
                        <a:rPr lang="en-US" altLang="ko-KR" sz="1500" smtClean="0"/>
                        <a:t>2~3</a:t>
                      </a:r>
                      <a:r>
                        <a:rPr lang="ko-KR" altLang="en-US" sz="1500" smtClean="0"/>
                        <a:t>개의 </a:t>
                      </a:r>
                      <a:r>
                        <a:rPr lang="en-US" altLang="ko-KR" sz="1500" smtClean="0"/>
                        <a:t>‘</a:t>
                      </a:r>
                      <a:r>
                        <a:rPr lang="ko-KR" altLang="en-US" sz="1500" smtClean="0"/>
                        <a:t>개별적인 도움 요청 공간</a:t>
                      </a:r>
                      <a:r>
                        <a:rPr lang="en-US" altLang="ko-KR" sz="1500" smtClean="0"/>
                        <a:t>’</a:t>
                      </a:r>
                      <a:r>
                        <a:rPr lang="ko-KR" altLang="en-US" sz="1500" smtClean="0"/>
                        <a:t>으로 분할한다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104789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선행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비누를 꺼내 손 비눗방울을 불어서</a:t>
                      </a:r>
                      <a:r>
                        <a:rPr lang="ko-KR" altLang="en-US" sz="1500" baseline="0" smtClean="0"/>
                        <a:t> 공간의 환영을 생성한다</a:t>
                      </a:r>
                      <a:r>
                        <a:rPr lang="en-US" altLang="ko-KR" sz="1500" baseline="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044339"/>
                  </a:ext>
                </a:extLst>
              </a:tr>
              <a:tr h="235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진행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작은 비눗방울들을 터뜨린다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299135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시간 내 수행하지 않을 시</a:t>
                      </a:r>
                      <a:r>
                        <a:rPr lang="en-US" altLang="ko-KR" sz="1500" smtClean="0"/>
                        <a:t>, </a:t>
                      </a:r>
                      <a:r>
                        <a:rPr lang="ko-KR" altLang="en-US" sz="1500" smtClean="0"/>
                        <a:t>손바닥으로 비눗방울을 아래로 내려쳐 터뜨린다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57879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망각의 증식</a:t>
                      </a:r>
                      <a:r>
                        <a:rPr lang="en-US" altLang="ko-KR" sz="1800" smtClean="0"/>
                        <a:t>:</a:t>
                      </a:r>
                    </a:p>
                    <a:p>
                      <a:pPr algn="ctr" latinLnBrk="1"/>
                      <a:r>
                        <a:rPr lang="ko-KR" altLang="en-US" sz="1800" smtClean="0"/>
                        <a:t>환영 폭주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컨셉</a:t>
                      </a:r>
                      <a:endParaRPr lang="ko-KR" altLang="en-US" sz="150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자장가를 불러서 </a:t>
                      </a:r>
                      <a:r>
                        <a:rPr lang="en-US" altLang="ko-KR" sz="1500" smtClean="0"/>
                        <a:t>NPC</a:t>
                      </a:r>
                      <a:r>
                        <a:rPr lang="ko-KR" altLang="en-US" sz="1500" smtClean="0"/>
                        <a:t>를 수면 상태로 만든다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257902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선행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수면잠옷을 입고 요정봉을 흔들며 자장가를 부른다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638376"/>
                  </a:ext>
                </a:extLst>
              </a:tr>
              <a:tr h="235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진행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수면 상태의 </a:t>
                      </a:r>
                      <a:r>
                        <a:rPr lang="en-US" altLang="ko-KR" sz="1500" smtClean="0"/>
                        <a:t>NPC</a:t>
                      </a:r>
                      <a:r>
                        <a:rPr lang="ko-KR" altLang="en-US" sz="1500" smtClean="0"/>
                        <a:t>를 향해 주술을 건다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414655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시간 초과 시 </a:t>
                      </a:r>
                      <a:r>
                        <a:rPr lang="en-US" altLang="ko-KR" sz="1500" smtClean="0"/>
                        <a:t>NPC</a:t>
                      </a:r>
                      <a:r>
                        <a:rPr lang="ko-KR" altLang="en-US" sz="1500" smtClean="0"/>
                        <a:t>를 몬스터로 변이시키고 잠옷과 요정봉을 정리한다</a:t>
                      </a:r>
                      <a:r>
                        <a:rPr lang="en-US" altLang="ko-KR" sz="1500" smtClean="0"/>
                        <a:t>.</a:t>
                      </a:r>
                      <a:r>
                        <a:rPr lang="ko-KR" altLang="en-US" sz="1500" smtClean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572266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smtClean="0"/>
                        <a:t>강제 선행</a:t>
                      </a:r>
                      <a:r>
                        <a:rPr lang="en-US" altLang="ko-KR" sz="1800" smtClean="0"/>
                        <a:t>:</a:t>
                      </a:r>
                    </a:p>
                    <a:p>
                      <a:pPr algn="ctr" latinLnBrk="1"/>
                      <a:r>
                        <a:rPr lang="ko-KR" altLang="en-US" sz="1800" smtClean="0"/>
                        <a:t>행동 봉인</a:t>
                      </a:r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컨셉</a:t>
                      </a:r>
                      <a:endParaRPr lang="ko-KR" altLang="en-US" sz="150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특정 행동을 수행하게 명령한다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034540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mtClean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선행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경찰복으로 갈아입고 수갑을 든다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129316"/>
                  </a:ext>
                </a:extLst>
              </a:tr>
              <a:tr h="235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진행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여러 가지 행동들을 지시한다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15648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smtClean="0"/>
                        <a:t>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smtClean="0"/>
                        <a:t>지시 불이행 시 감옥에 넣는다</a:t>
                      </a:r>
                      <a:r>
                        <a:rPr lang="en-US" altLang="ko-KR" sz="1500" smtClean="0"/>
                        <a:t>.</a:t>
                      </a:r>
                      <a:endParaRPr lang="ko-KR" altLang="en-US" sz="150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234150"/>
                  </a:ext>
                </a:extLst>
              </a:tr>
            </a:tbl>
          </a:graphicData>
        </a:graphic>
      </p:graphicFrame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보스 애니메이션 리스트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105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699</Words>
  <Application>Microsoft Office PowerPoint</Application>
  <PresentationFormat>와이드스크린</PresentationFormat>
  <Paragraphs>162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화면 안의 영역</vt:lpstr>
      <vt:lpstr>실무</vt:lpstr>
      <vt:lpstr>비 전투 게임</vt:lpstr>
      <vt:lpstr>PowerPoint 프레젠테이션</vt:lpstr>
      <vt:lpstr>PowerPoint 프레젠테이션</vt:lpstr>
      <vt:lpstr>PowerPoint 프레젠테이션</vt:lpstr>
      <vt:lpstr>애니메이션 리스트 (동작 항목 표)</vt:lpstr>
      <vt:lpstr>주인공 애니메이션 리스트</vt:lpstr>
      <vt:lpstr>보스 애니메이션 리스트</vt:lpstr>
      <vt:lpstr>보스 애니메이션 리스트</vt:lpstr>
      <vt:lpstr>보스 애니메이션 리스트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 안의 영역</dc:title>
  <dc:creator>FullName</dc:creator>
  <cp:lastModifiedBy>FullName</cp:lastModifiedBy>
  <cp:revision>12</cp:revision>
  <dcterms:created xsi:type="dcterms:W3CDTF">2026-04-23T05:00:09Z</dcterms:created>
  <dcterms:modified xsi:type="dcterms:W3CDTF">2026-04-23T06:53:41Z</dcterms:modified>
</cp:coreProperties>
</file>