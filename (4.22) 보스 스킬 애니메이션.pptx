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EAB9-2298-483C-BF85-65AE06BD6D9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76B0-4F89-4256-A586-8AB525C754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10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EAB9-2298-483C-BF85-65AE06BD6D9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76B0-4F89-4256-A586-8AB525C754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24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EAB9-2298-483C-BF85-65AE06BD6D9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76B0-4F89-4256-A586-8AB525C754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03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EAB9-2298-483C-BF85-65AE06BD6D9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76B0-4F89-4256-A586-8AB525C754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363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EAB9-2298-483C-BF85-65AE06BD6D9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76B0-4F89-4256-A586-8AB525C754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23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EAB9-2298-483C-BF85-65AE06BD6D9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76B0-4F89-4256-A586-8AB525C754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48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EAB9-2298-483C-BF85-65AE06BD6D9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76B0-4F89-4256-A586-8AB525C754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6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EAB9-2298-483C-BF85-65AE06BD6D9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76B0-4F89-4256-A586-8AB525C754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223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EAB9-2298-483C-BF85-65AE06BD6D9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76B0-4F89-4256-A586-8AB525C754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231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EAB9-2298-483C-BF85-65AE06BD6D9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76B0-4F89-4256-A586-8AB525C754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93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EAB9-2298-483C-BF85-65AE06BD6D9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76B0-4F89-4256-A586-8AB525C754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86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8EAB9-2298-483C-BF85-65AE06BD6D9F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976B0-4F89-4256-A586-8AB525C754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14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애니메이션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원래 살아있지 않은 것들을 살아있는 것처럼 만드는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21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캐릭터 애니메이션의 타임라인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1</a:t>
            </a:r>
            <a:r>
              <a:rPr lang="ko-KR" altLang="en-US" smtClean="0"/>
              <a:t>개의 동작의 타임라인이다</a:t>
            </a:r>
            <a:r>
              <a:rPr lang="en-US" altLang="ko-KR" smtClean="0"/>
              <a:t>. </a:t>
            </a:r>
            <a:r>
              <a:rPr lang="ko-KR" altLang="en-US" smtClean="0"/>
              <a:t>최대 </a:t>
            </a:r>
            <a:r>
              <a:rPr lang="en-US" altLang="ko-KR" smtClean="0"/>
              <a:t>5</a:t>
            </a:r>
            <a:r>
              <a:rPr lang="ko-KR" altLang="en-US" smtClean="0"/>
              <a:t>개로 나눔</a:t>
            </a:r>
            <a:endParaRPr lang="en-US" altLang="ko-KR" smtClean="0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1. IDLE (</a:t>
            </a:r>
            <a:r>
              <a:rPr lang="ko-KR" altLang="en-US" smtClean="0"/>
              <a:t>대기</a:t>
            </a:r>
            <a:r>
              <a:rPr lang="en-US" altLang="ko-KR" smtClean="0"/>
              <a:t>) </a:t>
            </a:r>
            <a:r>
              <a:rPr lang="ko-KR" altLang="en-US" smtClean="0"/>
              <a:t>상태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비전투 대기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전투 대기</a:t>
            </a:r>
            <a:endParaRPr lang="en-US" altLang="ko-KR" smtClean="0"/>
          </a:p>
          <a:p>
            <a:pPr lvl="1"/>
            <a:r>
              <a:rPr lang="ko-KR" altLang="en-US" smtClean="0"/>
              <a:t>이 </a:t>
            </a:r>
            <a:r>
              <a:rPr lang="en-US" altLang="ko-KR" smtClean="0"/>
              <a:t>2</a:t>
            </a:r>
            <a:r>
              <a:rPr lang="ko-KR" altLang="en-US" smtClean="0"/>
              <a:t>가지는 보통 거의 동일한 행동을 한다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B</a:t>
            </a:r>
            <a:r>
              <a:rPr lang="ko-KR" altLang="en-US" smtClean="0"/>
              <a:t>동작의 끝 동작과 </a:t>
            </a:r>
            <a:r>
              <a:rPr lang="en-US" altLang="ko-KR" smtClean="0"/>
              <a:t>A</a:t>
            </a:r>
            <a:r>
              <a:rPr lang="ko-KR" altLang="en-US" smtClean="0"/>
              <a:t>동작의 시작 동작을 연결해주는 역할을 하기도 함</a:t>
            </a:r>
            <a:endParaRPr lang="en-US" altLang="ko-KR" smtClean="0"/>
          </a:p>
          <a:p>
            <a:pPr lvl="1"/>
            <a:r>
              <a:rPr lang="ko-KR" altLang="en-US" smtClean="0"/>
              <a:t>왼발과 오른발의 위치를 맞춰줘야 동작 연결이 어색하게 되지 않는다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842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2. </a:t>
            </a:r>
            <a:r>
              <a:rPr lang="ko-KR" altLang="en-US" smtClean="0"/>
              <a:t>준비 구간</a:t>
            </a:r>
            <a:endParaRPr lang="en-US" altLang="ko-KR" smtClean="0"/>
          </a:p>
          <a:p>
            <a:r>
              <a:rPr lang="ko-KR" altLang="en-US" b="1" smtClean="0"/>
              <a:t>전조 알림</a:t>
            </a:r>
            <a:r>
              <a:rPr lang="en-US" altLang="ko-KR" b="1" smtClean="0"/>
              <a:t>(</a:t>
            </a:r>
            <a:r>
              <a:rPr lang="ko-KR" altLang="en-US" smtClean="0"/>
              <a:t>텔레그래프 </a:t>
            </a:r>
            <a:r>
              <a:rPr lang="en-US" altLang="ko-KR" smtClean="0"/>
              <a:t>(Telegraph)</a:t>
            </a:r>
            <a:r>
              <a:rPr lang="en-US" altLang="ko-KR" b="1" smtClean="0"/>
              <a:t>)</a:t>
            </a:r>
            <a:r>
              <a:rPr lang="ko-KR" altLang="en-US" smtClean="0"/>
              <a:t>을 담당</a:t>
            </a:r>
            <a:endParaRPr lang="en-US" altLang="ko-KR" smtClean="0"/>
          </a:p>
          <a:p>
            <a:pPr lvl="1"/>
            <a:r>
              <a:rPr lang="ko-KR" altLang="en-US" smtClean="0"/>
              <a:t>전조 알림을 명확히 구분해서 보여주지 않으면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유저들은 </a:t>
            </a:r>
            <a:r>
              <a:rPr lang="en-US" altLang="ko-KR" smtClean="0"/>
              <a:t>‘</a:t>
            </a:r>
            <a:r>
              <a:rPr lang="ko-KR" altLang="en-US" smtClean="0"/>
              <a:t>밸런스 개판이다</a:t>
            </a:r>
            <a:r>
              <a:rPr lang="en-US" altLang="ko-KR" smtClean="0"/>
              <a:t>’</a:t>
            </a:r>
            <a:r>
              <a:rPr lang="ko-KR" altLang="en-US" smtClean="0"/>
              <a:t>라고 생각한다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전조 알림을 명확히 보여주면</a:t>
            </a:r>
            <a:r>
              <a:rPr lang="en-US" altLang="ko-KR" smtClean="0"/>
              <a:t>, </a:t>
            </a:r>
            <a:r>
              <a:rPr lang="ko-KR" altLang="en-US" smtClean="0"/>
              <a:t>유저는 보스를 공략하지 못해도 게임탓이 아닌 본인의 실력 탓을 한다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전조 알림의 방식 </a:t>
            </a:r>
            <a:r>
              <a:rPr lang="en-US" altLang="ko-KR" smtClean="0"/>
              <a:t>: UI </a:t>
            </a:r>
            <a:r>
              <a:rPr lang="ko-KR" altLang="en-US" smtClean="0"/>
              <a:t>정보 </a:t>
            </a:r>
            <a:r>
              <a:rPr lang="en-US" altLang="ko-KR" smtClean="0"/>
              <a:t>&gt; </a:t>
            </a:r>
            <a:r>
              <a:rPr lang="ko-KR" altLang="en-US" smtClean="0"/>
              <a:t>애니메이션 </a:t>
            </a:r>
            <a:r>
              <a:rPr lang="en-US" altLang="ko-KR" smtClean="0"/>
              <a:t>&gt; </a:t>
            </a:r>
            <a:r>
              <a:rPr lang="ko-KR" altLang="en-US" smtClean="0"/>
              <a:t>사운드 </a:t>
            </a:r>
            <a:r>
              <a:rPr lang="en-US" altLang="ko-KR" smtClean="0"/>
              <a:t>&gt; </a:t>
            </a:r>
            <a:r>
              <a:rPr lang="ko-KR" altLang="en-US" smtClean="0"/>
              <a:t>이펙트 순 정도로 많이 나타낸다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캐릭터 애니메이션의 타임라인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428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1684" y="1825625"/>
            <a:ext cx="1090863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mtClean="0"/>
              <a:t>3. </a:t>
            </a:r>
            <a:r>
              <a:rPr lang="ko-KR" altLang="en-US" smtClean="0"/>
              <a:t>진행 </a:t>
            </a:r>
            <a:r>
              <a:rPr lang="en-US" altLang="ko-KR" smtClean="0"/>
              <a:t>1</a:t>
            </a:r>
            <a:r>
              <a:rPr lang="ko-KR" altLang="en-US" smtClean="0"/>
              <a:t>구간</a:t>
            </a:r>
            <a:endParaRPr lang="en-US" altLang="ko-KR" smtClean="0"/>
          </a:p>
          <a:p>
            <a:r>
              <a:rPr lang="ko-KR" altLang="en-US" smtClean="0"/>
              <a:t>데미지가 적용되기 시작하는 구간</a:t>
            </a:r>
            <a:endParaRPr lang="en-US" altLang="ko-KR" smtClean="0"/>
          </a:p>
          <a:p>
            <a:r>
              <a:rPr lang="ko-KR" altLang="en-US" smtClean="0"/>
              <a:t>취소 가능 </a:t>
            </a:r>
            <a:r>
              <a:rPr lang="en-US" altLang="ko-KR" smtClean="0"/>
              <a:t>; </a:t>
            </a:r>
            <a:r>
              <a:rPr lang="ko-KR" altLang="en-US" smtClean="0"/>
              <a:t>유저가 조건을 달성하면 유저의 동작을 취소 가능</a:t>
            </a:r>
            <a:endParaRPr lang="en-US" altLang="ko-KR" smtClean="0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4. </a:t>
            </a:r>
            <a:r>
              <a:rPr lang="ko-KR" altLang="en-US" smtClean="0"/>
              <a:t>진행 </a:t>
            </a:r>
            <a:r>
              <a:rPr lang="en-US" altLang="ko-KR" smtClean="0"/>
              <a:t>2</a:t>
            </a:r>
            <a:r>
              <a:rPr lang="ko-KR" altLang="en-US" smtClean="0"/>
              <a:t>구간</a:t>
            </a:r>
            <a:endParaRPr lang="en-US" altLang="ko-KR" smtClean="0"/>
          </a:p>
          <a:p>
            <a:r>
              <a:rPr lang="ko-KR" altLang="en-US" smtClean="0"/>
              <a:t>취소 불가능</a:t>
            </a:r>
            <a:endParaRPr lang="en-US" altLang="ko-KR" smtClean="0"/>
          </a:p>
          <a:p>
            <a:pPr lvl="1"/>
            <a:r>
              <a:rPr lang="en-US" altLang="ko-KR" smtClean="0"/>
              <a:t>(1~2</a:t>
            </a:r>
            <a:r>
              <a:rPr lang="ko-KR" altLang="en-US" smtClean="0"/>
              <a:t>구간 사이</a:t>
            </a:r>
            <a:r>
              <a:rPr lang="en-US" altLang="ko-KR" smtClean="0"/>
              <a:t>)</a:t>
            </a:r>
            <a:r>
              <a:rPr lang="ko-KR" altLang="en-US" smtClean="0"/>
              <a:t>안전 영역으로 피하거나</a:t>
            </a:r>
            <a:r>
              <a:rPr lang="en-US" altLang="ko-KR" smtClean="0"/>
              <a:t>, </a:t>
            </a:r>
            <a:r>
              <a:rPr lang="ko-KR" altLang="en-US" smtClean="0"/>
              <a:t>위험해도 공략 영역으로 가거나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위험 영역은 시간과 난이도에 따라 계속해서 바뀐다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캐릭터 애니메이션의 타임라인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4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/>
              <a:t>5</a:t>
            </a:r>
            <a:r>
              <a:rPr lang="en-US" altLang="ko-KR" smtClean="0"/>
              <a:t>. </a:t>
            </a:r>
            <a:r>
              <a:rPr lang="ko-KR" altLang="en-US" smtClean="0"/>
              <a:t>완료 구간</a:t>
            </a:r>
            <a:endParaRPr lang="en-US" altLang="ko-KR" smtClean="0"/>
          </a:p>
          <a:p>
            <a:r>
              <a:rPr lang="ko-KR" altLang="en-US" smtClean="0"/>
              <a:t>보스가 큰 동작을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완료의 어느 구간부터 회수 구간의 어느 지점까지는 </a:t>
            </a:r>
            <a:r>
              <a:rPr lang="en-US" altLang="ko-KR" smtClean="0"/>
              <a:t>‘</a:t>
            </a:r>
            <a:r>
              <a:rPr lang="ko-KR" altLang="en-US" smtClean="0"/>
              <a:t>공략 구간</a:t>
            </a:r>
            <a:r>
              <a:rPr lang="en-US" altLang="ko-KR" smtClean="0"/>
              <a:t>＇</a:t>
            </a:r>
            <a:r>
              <a:rPr lang="ko-KR" altLang="en-US" smtClean="0"/>
              <a:t>이다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endParaRPr lang="en-US" altLang="ko-KR" smtClean="0"/>
          </a:p>
          <a:p>
            <a:pPr marL="0" indent="0">
              <a:buNone/>
            </a:pPr>
            <a:r>
              <a:rPr lang="en-US" altLang="ko-KR"/>
              <a:t>6</a:t>
            </a:r>
            <a:r>
              <a:rPr lang="en-US" altLang="ko-KR" smtClean="0"/>
              <a:t>. </a:t>
            </a:r>
            <a:r>
              <a:rPr lang="ko-KR" altLang="en-US" smtClean="0"/>
              <a:t>회수구간</a:t>
            </a:r>
            <a:endParaRPr lang="en-US" altLang="ko-KR" smtClean="0"/>
          </a:p>
          <a:p>
            <a:r>
              <a:rPr lang="en-US" altLang="ko-KR" smtClean="0"/>
              <a:t>IDLE </a:t>
            </a:r>
            <a:r>
              <a:rPr lang="ko-KR" altLang="en-US" smtClean="0"/>
              <a:t>동작으로 다시 돌아오기 위해서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마지막 동작을 </a:t>
            </a:r>
            <a:r>
              <a:rPr lang="en-US" altLang="ko-KR" smtClean="0"/>
              <a:t>IDLE </a:t>
            </a:r>
            <a:r>
              <a:rPr lang="ko-KR" altLang="en-US" smtClean="0"/>
              <a:t>동작으로 동작을 수정하는 구간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보스가 큰 동작으로 해머를 바닥을 찍어내렸으면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 </a:t>
            </a:r>
            <a:r>
              <a:rPr lang="ko-KR" altLang="en-US" smtClean="0"/>
              <a:t>해머를 다시 </a:t>
            </a:r>
            <a:r>
              <a:rPr lang="en-US" altLang="ko-KR" smtClean="0"/>
              <a:t>IDLE </a:t>
            </a:r>
            <a:r>
              <a:rPr lang="ko-KR" altLang="en-US" smtClean="0"/>
              <a:t>동작의 위치에 맞게 되돌리고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 </a:t>
            </a:r>
            <a:r>
              <a:rPr lang="ko-KR" altLang="en-US" smtClean="0"/>
              <a:t>자세를 </a:t>
            </a:r>
            <a:r>
              <a:rPr lang="en-US" altLang="ko-KR" smtClean="0"/>
              <a:t>IDLE </a:t>
            </a:r>
            <a:r>
              <a:rPr lang="ko-KR" altLang="en-US" smtClean="0"/>
              <a:t>동작에 맞게 수정하는 것</a:t>
            </a:r>
            <a:endParaRPr lang="en-US" altLang="ko-KR" smtClean="0"/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캐릭터 애니메이션의 타임라인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84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애니메이션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비전투 동작</a:t>
            </a:r>
            <a:endParaRPr lang="en-US" altLang="ko-KR" smtClean="0"/>
          </a:p>
          <a:p>
            <a:r>
              <a:rPr lang="ko-KR" altLang="en-US" smtClean="0"/>
              <a:t>대부분의 애니메이션은 진행과 완료만 존재한다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전투 동작</a:t>
            </a:r>
            <a:endParaRPr lang="en-US" altLang="ko-KR" smtClean="0"/>
          </a:p>
          <a:p>
            <a:r>
              <a:rPr lang="en-US" altLang="ko-KR" smtClean="0"/>
              <a:t>Special Action.</a:t>
            </a:r>
          </a:p>
          <a:p>
            <a:r>
              <a:rPr lang="en-US" altLang="ko-KR" smtClean="0"/>
              <a:t>5</a:t>
            </a:r>
            <a:r>
              <a:rPr lang="ko-KR" altLang="en-US" smtClean="0"/>
              <a:t>개의 구간으로 동작을 구분한다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3</a:t>
            </a:r>
            <a:r>
              <a:rPr lang="ko-KR" altLang="en-US" smtClean="0"/>
              <a:t>개로 구분하기도 한다</a:t>
            </a:r>
            <a:r>
              <a:rPr lang="en-US" altLang="ko-KR" smtClean="0"/>
              <a:t>. (‘</a:t>
            </a:r>
            <a:r>
              <a:rPr lang="ko-KR" altLang="en-US" smtClean="0"/>
              <a:t>선행</a:t>
            </a:r>
            <a:r>
              <a:rPr lang="en-US" altLang="ko-KR" smtClean="0"/>
              <a:t>/</a:t>
            </a:r>
            <a:r>
              <a:rPr lang="ko-KR" altLang="en-US" smtClean="0"/>
              <a:t>진행중</a:t>
            </a:r>
            <a:r>
              <a:rPr lang="en-US" altLang="ko-KR" smtClean="0"/>
              <a:t>/</a:t>
            </a:r>
            <a:r>
              <a:rPr lang="ko-KR" altLang="en-US" smtClean="0"/>
              <a:t>후행</a:t>
            </a:r>
            <a:r>
              <a:rPr lang="en-US" altLang="ko-KR" smtClean="0"/>
              <a:t>’</a:t>
            </a:r>
            <a:r>
              <a:rPr lang="ko-KR" altLang="en-US" smtClean="0"/>
              <a:t> 동작</a:t>
            </a:r>
            <a:r>
              <a:rPr lang="en-US" altLang="ko-KR" smtClean="0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02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347" y="110977"/>
            <a:ext cx="9641306" cy="663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29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AI </a:t>
            </a:r>
            <a:r>
              <a:rPr lang="ko-KR" altLang="en-US" smtClean="0"/>
              <a:t>활용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챗지피티 무료 버전만 쓰면 오류가 좀 많다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따라서 무료버전만 쓸거면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챗지피티와 제미나이를 병행해서 교차 검증을 꼭 하자</a:t>
            </a:r>
            <a:r>
              <a:rPr lang="en-US" altLang="ko-KR" smtClean="0"/>
              <a:t>!</a:t>
            </a:r>
          </a:p>
          <a:p>
            <a:endParaRPr lang="en-US" altLang="ko-KR"/>
          </a:p>
          <a:p>
            <a:r>
              <a:rPr lang="ko-KR" altLang="en-US" smtClean="0"/>
              <a:t>챗지피티는 한 달에 </a:t>
            </a:r>
            <a:r>
              <a:rPr lang="en-US" altLang="ko-KR" smtClean="0"/>
              <a:t>20</a:t>
            </a:r>
            <a:r>
              <a:rPr lang="ko-KR" altLang="en-US" smtClean="0"/>
              <a:t>달러</a:t>
            </a:r>
            <a:r>
              <a:rPr lang="en-US" altLang="ko-KR" smtClean="0"/>
              <a:t>(2</a:t>
            </a:r>
            <a:r>
              <a:rPr lang="ko-KR" altLang="en-US" smtClean="0"/>
              <a:t>만원 정도</a:t>
            </a:r>
            <a:r>
              <a:rPr lang="en-US" altLang="ko-KR" smtClean="0"/>
              <a:t>)</a:t>
            </a:r>
            <a:r>
              <a:rPr lang="ko-KR" altLang="en-US" smtClean="0"/>
              <a:t>는 구독할만하다</a:t>
            </a:r>
            <a:r>
              <a:rPr lang="en-US" altLang="ko-KR" smtClean="0"/>
              <a:t>!!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49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49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3520" y="264160"/>
            <a:ext cx="241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보스 애니메이션 로직</a:t>
            </a: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57200" y="934720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생성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375105" y="3323908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페이즈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연출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61010" y="3437255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기본 공격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301239" y="934720"/>
            <a:ext cx="1727835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선제 스킬 연출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en-US" altLang="ko-KR" smtClean="0">
                <a:solidFill>
                  <a:schemeClr val="tx1"/>
                </a:solidFill>
              </a:rPr>
              <a:t>(Opening Skill)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79796" y="3437255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스킬 공격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065972" y="4146510"/>
            <a:ext cx="1477328" cy="22219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스킬 공격</a:t>
            </a:r>
            <a:r>
              <a:rPr lang="en-US" altLang="ko-KR" smtClean="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스킬 공격</a:t>
            </a:r>
            <a:r>
              <a:rPr lang="en-US" altLang="ko-KR" smtClean="0">
                <a:solidFill>
                  <a:schemeClr val="tx1"/>
                </a:solidFill>
              </a:rPr>
              <a:t>2</a:t>
            </a:r>
          </a:p>
          <a:p>
            <a:pPr algn="ctr"/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스킬 공격</a:t>
            </a:r>
            <a:r>
              <a:rPr lang="en-US" altLang="ko-KR" smtClean="0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540316" y="1617027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내려찍기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623433" y="934720"/>
            <a:ext cx="1426846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비전투 상태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712016" y="1617265"/>
            <a:ext cx="1249680" cy="22219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게걸음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en-US" altLang="ko-KR" smtClean="0">
                <a:solidFill>
                  <a:schemeClr val="tx1"/>
                </a:solidFill>
              </a:rPr>
              <a:t>(</a:t>
            </a:r>
            <a:r>
              <a:rPr lang="ko-KR" altLang="en-US" smtClean="0">
                <a:solidFill>
                  <a:schemeClr val="tx1"/>
                </a:solidFill>
              </a:rPr>
              <a:t>이동</a:t>
            </a:r>
            <a:r>
              <a:rPr lang="en-US" altLang="ko-KR" smtClean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응시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en-US" altLang="ko-KR" smtClean="0">
                <a:solidFill>
                  <a:schemeClr val="tx1"/>
                </a:solidFill>
              </a:rPr>
              <a:t>(</a:t>
            </a:r>
            <a:r>
              <a:rPr lang="ko-KR" altLang="en-US" smtClean="0">
                <a:solidFill>
                  <a:schemeClr val="tx1"/>
                </a:solidFill>
              </a:rPr>
              <a:t>대기</a:t>
            </a:r>
            <a:r>
              <a:rPr lang="en-US" altLang="ko-KR" smtClean="0">
                <a:solidFill>
                  <a:schemeClr val="tx1"/>
                </a:solidFill>
              </a:rPr>
              <a:t>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467474" y="934720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플레이어 공격 입력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467474" y="1617027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전투 상태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396615" y="215146"/>
            <a:ext cx="274701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전투 개시 조건</a:t>
            </a:r>
            <a:r>
              <a:rPr lang="en-US" altLang="ko-KR" smtClean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플레이어의 첫 공격 입력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0375105" y="4006215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합체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8718233" y="3437255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연출 동작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718233" y="4159962"/>
            <a:ext cx="1249680" cy="22188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쓰러짐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endParaRPr lang="en-US" altLang="ko-KR" smtClean="0">
              <a:solidFill>
                <a:schemeClr val="tx1"/>
              </a:solidFill>
            </a:endParaRPr>
          </a:p>
          <a:p>
            <a:pPr algn="ctr"/>
            <a:endParaRPr lang="en-US" altLang="ko-KR">
              <a:solidFill>
                <a:schemeClr val="tx1"/>
              </a:solidFill>
            </a:endParaRPr>
          </a:p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898582" y="3437255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상태 이상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789996" y="4161591"/>
            <a:ext cx="1477328" cy="22219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엉덩방아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en-US" altLang="ko-KR" smtClean="0">
                <a:solidFill>
                  <a:schemeClr val="tx1"/>
                </a:solidFill>
              </a:rPr>
              <a:t>(</a:t>
            </a:r>
            <a:r>
              <a:rPr lang="ko-KR" altLang="en-US" smtClean="0">
                <a:solidFill>
                  <a:schemeClr val="tx1"/>
                </a:solidFill>
              </a:rPr>
              <a:t>스턴</a:t>
            </a:r>
            <a:r>
              <a:rPr lang="en-US" altLang="ko-KR" smtClean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헤롱헤롱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en-US" altLang="ko-KR" smtClean="0">
                <a:solidFill>
                  <a:schemeClr val="tx1"/>
                </a:solidFill>
              </a:rPr>
              <a:t>(</a:t>
            </a:r>
            <a:r>
              <a:rPr lang="ko-KR" altLang="en-US" smtClean="0">
                <a:solidFill>
                  <a:schemeClr val="tx1"/>
                </a:solidFill>
              </a:rPr>
              <a:t>이동 제한</a:t>
            </a:r>
            <a:r>
              <a:rPr lang="en-US" altLang="ko-KR" smtClean="0">
                <a:solidFill>
                  <a:schemeClr val="tx1"/>
                </a:solidFill>
              </a:rPr>
              <a:t>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41948" y="4146509"/>
            <a:ext cx="1477328" cy="22219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기본 공격</a:t>
            </a:r>
            <a:r>
              <a:rPr lang="en-US" altLang="ko-KR" smtClean="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기본 공격</a:t>
            </a:r>
            <a:r>
              <a:rPr lang="en-US" altLang="ko-KR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901690" y="3437255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특수 조건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666422" y="4156829"/>
            <a:ext cx="1720216" cy="22219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주인공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무방비 상태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en-US" altLang="ko-KR" smtClean="0">
                <a:solidFill>
                  <a:schemeClr val="tx1"/>
                </a:solidFill>
              </a:rPr>
              <a:t>-&gt;</a:t>
            </a: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내려찍기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701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665629" y="847164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954741" y="564776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공격 동작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54741" y="142090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팔짱</a:t>
            </a:r>
            <a:endParaRPr lang="en-US" altLang="ko-KR" smtClean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54741" y="239357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손가락으로 삿대질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54741" y="336624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손가락으로 머리를 미는 듯한 동작 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/>
          <p:cNvCxnSpPr>
            <a:stCxn id="5" idx="2"/>
            <a:endCxn id="6" idx="0"/>
          </p:cNvCxnSpPr>
          <p:nvPr/>
        </p:nvCxnSpPr>
        <p:spPr>
          <a:xfrm>
            <a:off x="1754841" y="1985682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6" idx="2"/>
            <a:endCxn id="7" idx="0"/>
          </p:cNvCxnSpPr>
          <p:nvPr/>
        </p:nvCxnSpPr>
        <p:spPr>
          <a:xfrm>
            <a:off x="1754841" y="2958352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954741" y="433891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>
            <a:endCxn id="18" idx="0"/>
          </p:cNvCxnSpPr>
          <p:nvPr/>
        </p:nvCxnSpPr>
        <p:spPr>
          <a:xfrm>
            <a:off x="1754841" y="3931022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954741" y="531158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회수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/>
          <p:cNvCxnSpPr>
            <a:endCxn id="20" idx="0"/>
          </p:cNvCxnSpPr>
          <p:nvPr/>
        </p:nvCxnSpPr>
        <p:spPr>
          <a:xfrm>
            <a:off x="1754841" y="4903692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4657164" y="336624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여기서 </a:t>
            </a:r>
            <a:r>
              <a:rPr lang="en-US" altLang="ko-KR" smtClean="0">
                <a:solidFill>
                  <a:schemeClr val="tx1"/>
                </a:solidFill>
              </a:rPr>
              <a:t>PC</a:t>
            </a:r>
            <a:r>
              <a:rPr lang="ko-KR" altLang="en-US" smtClean="0">
                <a:solidFill>
                  <a:schemeClr val="tx1"/>
                </a:solidFill>
              </a:rPr>
              <a:t>가 뒤로 넘어가는 애니메이션 하면 좋겠다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4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665629" y="847164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954741" y="564776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공격 동작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54741" y="142090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팔짱</a:t>
            </a:r>
            <a:endParaRPr lang="en-US" altLang="ko-KR" smtClean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54741" y="239357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손가락으로 삿대질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54741" y="336624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손가락으로 머리를 미는 듯한 동작 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/>
          <p:cNvCxnSpPr>
            <a:stCxn id="5" idx="2"/>
            <a:endCxn id="6" idx="0"/>
          </p:cNvCxnSpPr>
          <p:nvPr/>
        </p:nvCxnSpPr>
        <p:spPr>
          <a:xfrm>
            <a:off x="1754841" y="1985682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6" idx="2"/>
            <a:endCxn id="7" idx="0"/>
          </p:cNvCxnSpPr>
          <p:nvPr/>
        </p:nvCxnSpPr>
        <p:spPr>
          <a:xfrm>
            <a:off x="1754841" y="2958352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954741" y="433891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>
            <a:endCxn id="18" idx="0"/>
          </p:cNvCxnSpPr>
          <p:nvPr/>
        </p:nvCxnSpPr>
        <p:spPr>
          <a:xfrm>
            <a:off x="1754841" y="3931022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954741" y="531158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회수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/>
          <p:cNvCxnSpPr>
            <a:endCxn id="20" idx="0"/>
          </p:cNvCxnSpPr>
          <p:nvPr/>
        </p:nvCxnSpPr>
        <p:spPr>
          <a:xfrm>
            <a:off x="1754841" y="4903692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4657164" y="336624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여기서 </a:t>
            </a:r>
            <a:r>
              <a:rPr lang="en-US" altLang="ko-KR" smtClean="0">
                <a:solidFill>
                  <a:schemeClr val="tx1"/>
                </a:solidFill>
              </a:rPr>
              <a:t>PC</a:t>
            </a:r>
            <a:r>
              <a:rPr lang="ko-KR" altLang="en-US" smtClean="0">
                <a:solidFill>
                  <a:schemeClr val="tx1"/>
                </a:solidFill>
              </a:rPr>
              <a:t>가 뒤로 넘어가는 애니메이션 하면 좋겠다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127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2684856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973968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선택의 분기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973968" y="133096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손에 비누칠</a:t>
            </a:r>
            <a:endParaRPr lang="en-US" altLang="ko-KR" smtClean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973968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손 비눗방울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준비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973968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비눗방울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불기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/>
          <p:cNvCxnSpPr>
            <a:stCxn id="5" idx="2"/>
            <a:endCxn id="6" idx="0"/>
          </p:cNvCxnSpPr>
          <p:nvPr/>
        </p:nvCxnSpPr>
        <p:spPr>
          <a:xfrm>
            <a:off x="3774068" y="189574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6" idx="2"/>
            <a:endCxn id="7" idx="0"/>
          </p:cNvCxnSpPr>
          <p:nvPr/>
        </p:nvCxnSpPr>
        <p:spPr>
          <a:xfrm>
            <a:off x="3774068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2973968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비눗방울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생성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>
            <a:endCxn id="18" idx="0"/>
          </p:cNvCxnSpPr>
          <p:nvPr/>
        </p:nvCxnSpPr>
        <p:spPr>
          <a:xfrm>
            <a:off x="3774068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2973968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비눗방울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터뜨리기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/>
          <p:cNvCxnSpPr>
            <a:endCxn id="20" idx="0"/>
          </p:cNvCxnSpPr>
          <p:nvPr/>
        </p:nvCxnSpPr>
        <p:spPr>
          <a:xfrm>
            <a:off x="3774068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374268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663380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환영 폭주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663380" y="133096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수면 잠옷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요정봉</a:t>
            </a:r>
            <a:endParaRPr lang="en-US" altLang="ko-KR" smtClean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663380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자장가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663380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소환된 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몬스터</a:t>
            </a:r>
            <a:r>
              <a:rPr lang="en-US" altLang="ko-KR">
                <a:solidFill>
                  <a:schemeClr val="tx1"/>
                </a:solidFill>
              </a:rPr>
              <a:t> </a:t>
            </a:r>
            <a:r>
              <a:rPr lang="ko-KR" altLang="en-US" smtClean="0">
                <a:solidFill>
                  <a:schemeClr val="tx1"/>
                </a:solidFill>
              </a:rPr>
              <a:t>수면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/>
          <p:cNvCxnSpPr>
            <a:stCxn id="23" idx="2"/>
            <a:endCxn id="24" idx="0"/>
          </p:cNvCxnSpPr>
          <p:nvPr/>
        </p:nvCxnSpPr>
        <p:spPr>
          <a:xfrm>
            <a:off x="6463480" y="189574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4" idx="2"/>
            <a:endCxn id="25" idx="0"/>
          </p:cNvCxnSpPr>
          <p:nvPr/>
        </p:nvCxnSpPr>
        <p:spPr>
          <a:xfrm>
            <a:off x="6463480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5663380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몬스터 폭발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9" name="직선 화살표 연결선 28"/>
          <p:cNvCxnSpPr>
            <a:endCxn id="28" idx="0"/>
          </p:cNvCxnSpPr>
          <p:nvPr/>
        </p:nvCxnSpPr>
        <p:spPr>
          <a:xfrm>
            <a:off x="6463480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5663380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잠옷 개고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요정봉 정리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/>
          <p:cNvCxnSpPr>
            <a:endCxn id="30" idx="0"/>
          </p:cNvCxnSpPr>
          <p:nvPr/>
        </p:nvCxnSpPr>
        <p:spPr>
          <a:xfrm>
            <a:off x="6463480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573668" y="3177694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IDLE</a:t>
            </a: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도구 준비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063680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8352792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행동 봉인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8352792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수갑 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8352792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수갑 채우기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/>
          <p:cNvCxnSpPr>
            <a:stCxn id="36" idx="2"/>
            <a:endCxn id="37" idx="0"/>
          </p:cNvCxnSpPr>
          <p:nvPr/>
        </p:nvCxnSpPr>
        <p:spPr>
          <a:xfrm>
            <a:off x="9152892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8352792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감옥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/>
          <p:cNvCxnSpPr>
            <a:endCxn id="40" idx="0"/>
          </p:cNvCxnSpPr>
          <p:nvPr/>
        </p:nvCxnSpPr>
        <p:spPr>
          <a:xfrm>
            <a:off x="9152892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8352792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열쇠로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석방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/>
          <p:cNvCxnSpPr>
            <a:endCxn id="42" idx="0"/>
          </p:cNvCxnSpPr>
          <p:nvPr/>
        </p:nvCxnSpPr>
        <p:spPr>
          <a:xfrm>
            <a:off x="9152892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7153102" y="6293224"/>
            <a:ext cx="399958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열쇠로 열어줄 때 공격하면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바로 다시 갇히게 하는 건 어떨까</a:t>
            </a:r>
            <a:r>
              <a:rPr lang="en-US" altLang="ko-KR" smtClean="0">
                <a:solidFill>
                  <a:schemeClr val="tx1"/>
                </a:solidFill>
              </a:rPr>
              <a:t>?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0455017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원거리 공격만 가능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0455017" y="2993917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근거리 공격 시 수갑 채움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8352792" y="1326921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경찰복 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32481" y="4133182"/>
            <a:ext cx="2339462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이런 느낌으로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여러 개 불 수도 ㅇ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타원 1"/>
          <p:cNvSpPr/>
          <p:nvPr/>
        </p:nvSpPr>
        <p:spPr>
          <a:xfrm>
            <a:off x="835031" y="4987841"/>
            <a:ext cx="514808" cy="453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/>
          <p:cNvSpPr/>
          <p:nvPr/>
        </p:nvSpPr>
        <p:spPr>
          <a:xfrm>
            <a:off x="1347929" y="4987841"/>
            <a:ext cx="514808" cy="453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/>
          <p:cNvSpPr/>
          <p:nvPr/>
        </p:nvSpPr>
        <p:spPr>
          <a:xfrm>
            <a:off x="737311" y="5236635"/>
            <a:ext cx="610617" cy="389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/>
          <p:cNvSpPr/>
          <p:nvPr/>
        </p:nvSpPr>
        <p:spPr>
          <a:xfrm>
            <a:off x="1351099" y="5221645"/>
            <a:ext cx="610617" cy="389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18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2684856" y="1708879"/>
            <a:ext cx="2178424" cy="35024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973968" y="1326921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선택의 분기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973968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손 비눗방울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준비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973968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비눗방울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불기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/>
          <p:cNvCxnSpPr>
            <a:stCxn id="6" idx="2"/>
            <a:endCxn id="7" idx="0"/>
          </p:cNvCxnSpPr>
          <p:nvPr/>
        </p:nvCxnSpPr>
        <p:spPr>
          <a:xfrm>
            <a:off x="3774068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2973968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비눗방울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생성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>
            <a:endCxn id="18" idx="0"/>
          </p:cNvCxnSpPr>
          <p:nvPr/>
        </p:nvCxnSpPr>
        <p:spPr>
          <a:xfrm>
            <a:off x="3774068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374268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663380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환영 폭주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663380" y="133096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수면 잠옷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요정봉</a:t>
            </a:r>
            <a:endParaRPr lang="en-US" altLang="ko-KR" smtClean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663380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자장가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663380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소환된 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몬스터</a:t>
            </a:r>
            <a:r>
              <a:rPr lang="en-US" altLang="ko-KR">
                <a:solidFill>
                  <a:schemeClr val="tx1"/>
                </a:solidFill>
              </a:rPr>
              <a:t> </a:t>
            </a:r>
            <a:r>
              <a:rPr lang="ko-KR" altLang="en-US" smtClean="0">
                <a:solidFill>
                  <a:schemeClr val="tx1"/>
                </a:solidFill>
              </a:rPr>
              <a:t>수면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/>
          <p:cNvCxnSpPr>
            <a:stCxn id="23" idx="2"/>
            <a:endCxn id="24" idx="0"/>
          </p:cNvCxnSpPr>
          <p:nvPr/>
        </p:nvCxnSpPr>
        <p:spPr>
          <a:xfrm>
            <a:off x="6463480" y="189574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4" idx="2"/>
            <a:endCxn id="25" idx="0"/>
          </p:cNvCxnSpPr>
          <p:nvPr/>
        </p:nvCxnSpPr>
        <p:spPr>
          <a:xfrm>
            <a:off x="6463480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5663380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몬스터 폭발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9" name="직선 화살표 연결선 28"/>
          <p:cNvCxnSpPr>
            <a:endCxn id="28" idx="0"/>
          </p:cNvCxnSpPr>
          <p:nvPr/>
        </p:nvCxnSpPr>
        <p:spPr>
          <a:xfrm>
            <a:off x="6463480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5663380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잠옷 개고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요정봉 정리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/>
          <p:cNvCxnSpPr>
            <a:endCxn id="30" idx="0"/>
          </p:cNvCxnSpPr>
          <p:nvPr/>
        </p:nvCxnSpPr>
        <p:spPr>
          <a:xfrm>
            <a:off x="6463480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573668" y="3177694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IDLE</a:t>
            </a: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도구 준비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063680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8352792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행동 봉인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8352792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수갑 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8352792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수갑 채우기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/>
          <p:cNvCxnSpPr>
            <a:stCxn id="36" idx="2"/>
            <a:endCxn id="37" idx="0"/>
          </p:cNvCxnSpPr>
          <p:nvPr/>
        </p:nvCxnSpPr>
        <p:spPr>
          <a:xfrm>
            <a:off x="9152892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8352792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감옥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/>
          <p:cNvCxnSpPr>
            <a:endCxn id="40" idx="0"/>
          </p:cNvCxnSpPr>
          <p:nvPr/>
        </p:nvCxnSpPr>
        <p:spPr>
          <a:xfrm>
            <a:off x="9152892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8352792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열쇠로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석방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/>
          <p:cNvCxnSpPr>
            <a:endCxn id="42" idx="0"/>
          </p:cNvCxnSpPr>
          <p:nvPr/>
        </p:nvCxnSpPr>
        <p:spPr>
          <a:xfrm>
            <a:off x="9152892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7153102" y="6293224"/>
            <a:ext cx="399958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열쇠로 열어줄 때 공격하면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바로 다시 갇히게 하는 건 어떨까</a:t>
            </a:r>
            <a:r>
              <a:rPr lang="en-US" altLang="ko-KR" smtClean="0">
                <a:solidFill>
                  <a:schemeClr val="tx1"/>
                </a:solidFill>
              </a:rPr>
              <a:t>?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0455017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원거리 공격만 가능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0455017" y="2993917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근거리 공격 시 수갑 채움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8352792" y="1326921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경찰복 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32481" y="4133182"/>
            <a:ext cx="2339462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이런 느낌으로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여러 개 불 수도 ㅇ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타원 1"/>
          <p:cNvSpPr/>
          <p:nvPr/>
        </p:nvSpPr>
        <p:spPr>
          <a:xfrm>
            <a:off x="835031" y="4987841"/>
            <a:ext cx="514808" cy="453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/>
          <p:cNvSpPr/>
          <p:nvPr/>
        </p:nvSpPr>
        <p:spPr>
          <a:xfrm>
            <a:off x="1347929" y="4987841"/>
            <a:ext cx="514808" cy="453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/>
          <p:cNvSpPr/>
          <p:nvPr/>
        </p:nvSpPr>
        <p:spPr>
          <a:xfrm>
            <a:off x="737311" y="5236635"/>
            <a:ext cx="610617" cy="389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/>
          <p:cNvSpPr/>
          <p:nvPr/>
        </p:nvSpPr>
        <p:spPr>
          <a:xfrm>
            <a:off x="1351099" y="5221645"/>
            <a:ext cx="610617" cy="389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3374018" y="175032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NPC </a:t>
            </a:r>
            <a:r>
              <a:rPr lang="ko-KR" altLang="en-US" smtClean="0">
                <a:solidFill>
                  <a:schemeClr val="tx1"/>
                </a:solidFill>
              </a:rPr>
              <a:t>변이 후 바로 진</a:t>
            </a:r>
            <a:r>
              <a:rPr lang="ko-KR" altLang="en-US" smtClean="0">
                <a:solidFill>
                  <a:schemeClr val="tx1"/>
                </a:solidFill>
              </a:rPr>
              <a:t>행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237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2324554" y="1708879"/>
            <a:ext cx="2178424" cy="35024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4" name="직사각형 3"/>
          <p:cNvSpPr/>
          <p:nvPr/>
        </p:nvSpPr>
        <p:spPr>
          <a:xfrm>
            <a:off x="2613666" y="1326921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선택의 분기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613666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손 비눗방울</a:t>
            </a:r>
            <a:endParaRPr lang="en-US" altLang="ko-KR" sz="150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준비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613666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비눗방울</a:t>
            </a:r>
            <a:endParaRPr lang="en-US" altLang="ko-KR" sz="150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불기</a:t>
            </a:r>
            <a:endParaRPr lang="ko-KR" altLang="en-US" sz="150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/>
          <p:cNvCxnSpPr>
            <a:stCxn id="6" idx="2"/>
            <a:endCxn id="7" idx="0"/>
          </p:cNvCxnSpPr>
          <p:nvPr/>
        </p:nvCxnSpPr>
        <p:spPr>
          <a:xfrm>
            <a:off x="3413766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2613666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비눗방울</a:t>
            </a:r>
            <a:endParaRPr lang="en-US" altLang="ko-KR" sz="150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생성</a:t>
            </a:r>
            <a:endParaRPr lang="ko-KR" altLang="en-US" sz="1500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>
            <a:endCxn id="18" idx="0"/>
          </p:cNvCxnSpPr>
          <p:nvPr/>
        </p:nvCxnSpPr>
        <p:spPr>
          <a:xfrm>
            <a:off x="3413766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4952199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6" name="직사각형 15"/>
          <p:cNvSpPr/>
          <p:nvPr/>
        </p:nvSpPr>
        <p:spPr>
          <a:xfrm>
            <a:off x="5241311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환영 폭주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241311" y="133096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수면 잠옷</a:t>
            </a:r>
            <a:endParaRPr lang="en-US" altLang="ko-KR" sz="150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요정봉</a:t>
            </a:r>
            <a:endParaRPr lang="en-US" altLang="ko-KR" sz="1500" smtClean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241311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자장가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241311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smtClean="0">
                <a:solidFill>
                  <a:schemeClr val="tx1"/>
                </a:solidFill>
              </a:rPr>
              <a:t>NPC </a:t>
            </a:r>
            <a:r>
              <a:rPr lang="ko-KR" altLang="en-US" sz="1500" smtClean="0">
                <a:solidFill>
                  <a:schemeClr val="tx1"/>
                </a:solidFill>
              </a:rPr>
              <a:t>수면</a:t>
            </a:r>
            <a:endParaRPr lang="ko-KR" altLang="en-US" sz="150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/>
          <p:cNvCxnSpPr>
            <a:stCxn id="23" idx="2"/>
            <a:endCxn id="24" idx="0"/>
          </p:cNvCxnSpPr>
          <p:nvPr/>
        </p:nvCxnSpPr>
        <p:spPr>
          <a:xfrm>
            <a:off x="6041411" y="189574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4" idx="2"/>
            <a:endCxn id="25" idx="0"/>
          </p:cNvCxnSpPr>
          <p:nvPr/>
        </p:nvCxnSpPr>
        <p:spPr>
          <a:xfrm>
            <a:off x="6041411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5241311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smtClean="0">
                <a:solidFill>
                  <a:schemeClr val="tx1"/>
                </a:solidFill>
              </a:rPr>
              <a:t>NPC </a:t>
            </a:r>
            <a:r>
              <a:rPr lang="ko-KR" altLang="en-US" sz="1500" smtClean="0">
                <a:solidFill>
                  <a:schemeClr val="tx1"/>
                </a:solidFill>
              </a:rPr>
              <a:t>몬스터화</a:t>
            </a:r>
            <a:endParaRPr lang="ko-KR" altLang="en-US" sz="1500">
              <a:solidFill>
                <a:schemeClr val="tx1"/>
              </a:solidFill>
            </a:endParaRPr>
          </a:p>
        </p:txBody>
      </p:sp>
      <p:cxnSp>
        <p:nvCxnSpPr>
          <p:cNvPr id="29" name="직선 화살표 연결선 28"/>
          <p:cNvCxnSpPr>
            <a:endCxn id="28" idx="0"/>
          </p:cNvCxnSpPr>
          <p:nvPr/>
        </p:nvCxnSpPr>
        <p:spPr>
          <a:xfrm>
            <a:off x="6041411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5241311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잠옷 개고</a:t>
            </a:r>
            <a:endParaRPr lang="en-US" altLang="ko-KR" sz="150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요정봉 정리</a:t>
            </a:r>
            <a:endParaRPr lang="ko-KR" altLang="en-US" sz="150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/>
          <p:cNvCxnSpPr>
            <a:endCxn id="30" idx="0"/>
          </p:cNvCxnSpPr>
          <p:nvPr/>
        </p:nvCxnSpPr>
        <p:spPr>
          <a:xfrm>
            <a:off x="6041411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84933" y="3043003"/>
            <a:ext cx="1600200" cy="83415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smtClean="0">
                <a:solidFill>
                  <a:schemeClr val="tx1"/>
                </a:solidFill>
              </a:rPr>
              <a:t>IDLE</a:t>
            </a:r>
          </a:p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도구 준비</a:t>
            </a:r>
            <a:endParaRPr lang="en-US" altLang="ko-KR" sz="150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500" smtClean="0">
                <a:solidFill>
                  <a:schemeClr val="tx1"/>
                </a:solidFill>
              </a:rPr>
              <a:t>(</a:t>
            </a:r>
            <a:r>
              <a:rPr lang="ko-KR" altLang="en-US" sz="1500" smtClean="0">
                <a:solidFill>
                  <a:schemeClr val="tx1"/>
                </a:solidFill>
              </a:rPr>
              <a:t>가방 뒤지기</a:t>
            </a:r>
            <a:r>
              <a:rPr lang="en-US" altLang="ko-KR" sz="1500" smtClean="0">
                <a:solidFill>
                  <a:schemeClr val="tx1"/>
                </a:solidFill>
              </a:rPr>
              <a:t>)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512646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4" name="직사각형 33"/>
          <p:cNvSpPr/>
          <p:nvPr/>
        </p:nvSpPr>
        <p:spPr>
          <a:xfrm>
            <a:off x="7801758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행동 봉인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7801758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수갑 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801758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수갑 채우기</a:t>
            </a:r>
            <a:endParaRPr lang="ko-KR" altLang="en-US" sz="150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/>
          <p:cNvCxnSpPr>
            <a:stCxn id="36" idx="2"/>
            <a:endCxn id="37" idx="0"/>
          </p:cNvCxnSpPr>
          <p:nvPr/>
        </p:nvCxnSpPr>
        <p:spPr>
          <a:xfrm>
            <a:off x="8601858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7801758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감옥</a:t>
            </a:r>
            <a:endParaRPr lang="ko-KR" altLang="en-US" sz="1500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/>
          <p:cNvCxnSpPr>
            <a:endCxn id="40" idx="0"/>
          </p:cNvCxnSpPr>
          <p:nvPr/>
        </p:nvCxnSpPr>
        <p:spPr>
          <a:xfrm>
            <a:off x="8601858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7801758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열쇠로</a:t>
            </a:r>
            <a:endParaRPr lang="en-US" altLang="ko-KR" sz="150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석방</a:t>
            </a:r>
            <a:endParaRPr lang="ko-KR" altLang="en-US" sz="1500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/>
          <p:cNvCxnSpPr>
            <a:endCxn id="42" idx="0"/>
          </p:cNvCxnSpPr>
          <p:nvPr/>
        </p:nvCxnSpPr>
        <p:spPr>
          <a:xfrm>
            <a:off x="8601858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6635473" y="6293224"/>
            <a:ext cx="399958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열쇠로 열어줄 때 공격하면</a:t>
            </a:r>
            <a:endParaRPr lang="en-US" altLang="ko-KR" sz="150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바로 다시 갇히게 하는 건 어떨까</a:t>
            </a:r>
            <a:r>
              <a:rPr lang="en-US" altLang="ko-KR" sz="1500" smtClean="0">
                <a:solidFill>
                  <a:schemeClr val="tx1"/>
                </a:solidFill>
              </a:rPr>
              <a:t>?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7035063" y="-23359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원거리 공격만 가능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8635263" y="-23877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근거리 공격 시 수갑 채움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7801758" y="1326921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경찰복 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32481" y="4133182"/>
            <a:ext cx="2339462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이런 느낌으로</a:t>
            </a:r>
            <a:endParaRPr lang="en-US" altLang="ko-KR" sz="150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여러 개 불 수도 ㅇ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2" name="타원 1"/>
          <p:cNvSpPr/>
          <p:nvPr/>
        </p:nvSpPr>
        <p:spPr>
          <a:xfrm>
            <a:off x="835031" y="4987841"/>
            <a:ext cx="514808" cy="453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49" name="타원 48"/>
          <p:cNvSpPr/>
          <p:nvPr/>
        </p:nvSpPr>
        <p:spPr>
          <a:xfrm>
            <a:off x="1347929" y="4987841"/>
            <a:ext cx="514808" cy="453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50" name="타원 49"/>
          <p:cNvSpPr/>
          <p:nvPr/>
        </p:nvSpPr>
        <p:spPr>
          <a:xfrm>
            <a:off x="737311" y="5236635"/>
            <a:ext cx="610617" cy="389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52" name="타원 51"/>
          <p:cNvSpPr/>
          <p:nvPr/>
        </p:nvSpPr>
        <p:spPr>
          <a:xfrm>
            <a:off x="1351099" y="5221645"/>
            <a:ext cx="610617" cy="389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53" name="직사각형 52"/>
          <p:cNvSpPr/>
          <p:nvPr/>
        </p:nvSpPr>
        <p:spPr>
          <a:xfrm>
            <a:off x="9823630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54" name="직사각형 53"/>
          <p:cNvSpPr/>
          <p:nvPr/>
        </p:nvSpPr>
        <p:spPr>
          <a:xfrm>
            <a:off x="10112742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전가 불가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0112742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 호각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0112742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구령</a:t>
            </a:r>
            <a:endParaRPr lang="ko-KR" altLang="en-US" sz="1500">
              <a:solidFill>
                <a:schemeClr val="tx1"/>
              </a:solidFill>
            </a:endParaRPr>
          </a:p>
        </p:txBody>
      </p:sp>
      <p:cxnSp>
        <p:nvCxnSpPr>
          <p:cNvPr id="57" name="직선 화살표 연결선 56"/>
          <p:cNvCxnSpPr>
            <a:stCxn id="55" idx="2"/>
            <a:endCxn id="56" idx="0"/>
          </p:cNvCxnSpPr>
          <p:nvPr/>
        </p:nvCxnSpPr>
        <p:spPr>
          <a:xfrm>
            <a:off x="10912842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10112742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smtClean="0">
                <a:solidFill>
                  <a:schemeClr val="tx1"/>
                </a:solidFill>
              </a:rPr>
              <a:t>QTE</a:t>
            </a:r>
          </a:p>
          <a:p>
            <a:pPr algn="ctr"/>
            <a:r>
              <a:rPr lang="en-US" altLang="ko-KR" sz="1000" smtClean="0">
                <a:solidFill>
                  <a:schemeClr val="tx1"/>
                </a:solidFill>
              </a:rPr>
              <a:t>(Quick Time Event)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59" name="직선 화살표 연결선 58"/>
          <p:cNvCxnSpPr>
            <a:endCxn id="58" idx="0"/>
          </p:cNvCxnSpPr>
          <p:nvPr/>
        </p:nvCxnSpPr>
        <p:spPr>
          <a:xfrm>
            <a:off x="10912842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10112742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차렷</a:t>
            </a:r>
            <a:r>
              <a:rPr lang="en-US" altLang="ko-KR" sz="1500" smtClean="0">
                <a:solidFill>
                  <a:schemeClr val="tx1"/>
                </a:solidFill>
              </a:rPr>
              <a:t>!</a:t>
            </a:r>
            <a:endParaRPr lang="ko-KR" altLang="en-US" sz="150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/>
          <p:cNvCxnSpPr>
            <a:endCxn id="60" idx="0"/>
          </p:cNvCxnSpPr>
          <p:nvPr/>
        </p:nvCxnSpPr>
        <p:spPr>
          <a:xfrm>
            <a:off x="10912842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10112742" y="1326921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조교</a:t>
            </a:r>
            <a:endParaRPr lang="ko-KR" altLang="en-US" sz="15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292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2684856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973968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선택의 분기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973968" y="133096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비누 꺼내고 손에 비눗물 묻힘</a:t>
            </a:r>
            <a:endParaRPr lang="en-US" altLang="ko-KR" smtClean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973968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비눗방울 생성 준비 동작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973968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비눗방울 생성 및 구조 대상 등장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/>
          <p:cNvCxnSpPr>
            <a:stCxn id="5" idx="2"/>
            <a:endCxn id="6" idx="0"/>
          </p:cNvCxnSpPr>
          <p:nvPr/>
        </p:nvCxnSpPr>
        <p:spPr>
          <a:xfrm>
            <a:off x="3774068" y="189574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6" idx="2"/>
            <a:endCxn id="7" idx="0"/>
          </p:cNvCxnSpPr>
          <p:nvPr/>
        </p:nvCxnSpPr>
        <p:spPr>
          <a:xfrm>
            <a:off x="3774068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2973968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플레이어가 각 대상에 맞는 선행 수행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>
            <a:endCxn id="18" idx="0"/>
          </p:cNvCxnSpPr>
          <p:nvPr/>
        </p:nvCxnSpPr>
        <p:spPr>
          <a:xfrm>
            <a:off x="3774068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2973968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결과에 따른 후속 행동 및 딜 타임 발생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/>
          <p:cNvCxnSpPr>
            <a:endCxn id="20" idx="0"/>
          </p:cNvCxnSpPr>
          <p:nvPr/>
        </p:nvCxnSpPr>
        <p:spPr>
          <a:xfrm>
            <a:off x="3774068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374268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663380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환영 폭주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663380" y="133096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수면 잠옷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요정봉</a:t>
            </a:r>
            <a:endParaRPr lang="en-US" altLang="ko-KR" smtClean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663380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자장가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663380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소환된 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몬스터</a:t>
            </a:r>
            <a:r>
              <a:rPr lang="en-US" altLang="ko-KR">
                <a:solidFill>
                  <a:schemeClr val="tx1"/>
                </a:solidFill>
              </a:rPr>
              <a:t> </a:t>
            </a:r>
            <a:r>
              <a:rPr lang="ko-KR" altLang="en-US" smtClean="0">
                <a:solidFill>
                  <a:schemeClr val="tx1"/>
                </a:solidFill>
              </a:rPr>
              <a:t>수면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/>
          <p:cNvCxnSpPr>
            <a:stCxn id="23" idx="2"/>
            <a:endCxn id="24" idx="0"/>
          </p:cNvCxnSpPr>
          <p:nvPr/>
        </p:nvCxnSpPr>
        <p:spPr>
          <a:xfrm>
            <a:off x="6463480" y="189574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4" idx="2"/>
            <a:endCxn id="25" idx="0"/>
          </p:cNvCxnSpPr>
          <p:nvPr/>
        </p:nvCxnSpPr>
        <p:spPr>
          <a:xfrm>
            <a:off x="6463480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5663380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몬스터 폭발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9" name="직선 화살표 연결선 28"/>
          <p:cNvCxnSpPr>
            <a:endCxn id="28" idx="0"/>
          </p:cNvCxnSpPr>
          <p:nvPr/>
        </p:nvCxnSpPr>
        <p:spPr>
          <a:xfrm>
            <a:off x="6463480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5663380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잠옷 개고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요정봉 정리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/>
          <p:cNvCxnSpPr>
            <a:endCxn id="30" idx="0"/>
          </p:cNvCxnSpPr>
          <p:nvPr/>
        </p:nvCxnSpPr>
        <p:spPr>
          <a:xfrm>
            <a:off x="6463480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573668" y="3177694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IDLE</a:t>
            </a: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가방 뒤지기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063680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8352792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행동 봉인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8352792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수갑 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8352792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수갑 채우기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/>
          <p:cNvCxnSpPr>
            <a:stCxn id="36" idx="2"/>
            <a:endCxn id="37" idx="0"/>
          </p:cNvCxnSpPr>
          <p:nvPr/>
        </p:nvCxnSpPr>
        <p:spPr>
          <a:xfrm>
            <a:off x="9152892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8352792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감옥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/>
          <p:cNvCxnSpPr>
            <a:endCxn id="40" idx="0"/>
          </p:cNvCxnSpPr>
          <p:nvPr/>
        </p:nvCxnSpPr>
        <p:spPr>
          <a:xfrm>
            <a:off x="9152892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8352792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열쇠로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석방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/>
          <p:cNvCxnSpPr>
            <a:endCxn id="42" idx="0"/>
          </p:cNvCxnSpPr>
          <p:nvPr/>
        </p:nvCxnSpPr>
        <p:spPr>
          <a:xfrm>
            <a:off x="9152892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7153102" y="6293224"/>
            <a:ext cx="399958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열쇠로 열어줄 때 공격하면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바로 다시 갇히게 하는 건 어떨까</a:t>
            </a:r>
            <a:r>
              <a:rPr lang="en-US" altLang="ko-KR" smtClean="0">
                <a:solidFill>
                  <a:schemeClr val="tx1"/>
                </a:solidFill>
              </a:rPr>
              <a:t>?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0455017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원거리 공격만 가능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0455017" y="2993917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근거리 공격 시 수갑 채움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8352792" y="1326921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경찰복 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33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621</Words>
  <Application>Microsoft Office PowerPoint</Application>
  <PresentationFormat>와이드스크린</PresentationFormat>
  <Paragraphs>235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애니메이션</vt:lpstr>
      <vt:lpstr>캐릭터 애니메이션의 타임라인</vt:lpstr>
      <vt:lpstr>캐릭터 애니메이션의 타임라인</vt:lpstr>
      <vt:lpstr>캐릭터 애니메이션의 타임라인</vt:lpstr>
      <vt:lpstr>캐릭터 애니메이션의 타임라인</vt:lpstr>
      <vt:lpstr>애니메이션</vt:lpstr>
      <vt:lpstr>PowerPoint 프레젠테이션</vt:lpstr>
      <vt:lpstr>AI 활용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애니메이션</dc:title>
  <dc:creator>FullName</dc:creator>
  <cp:lastModifiedBy>FullName</cp:lastModifiedBy>
  <cp:revision>12</cp:revision>
  <dcterms:created xsi:type="dcterms:W3CDTF">2026-04-22T04:58:41Z</dcterms:created>
  <dcterms:modified xsi:type="dcterms:W3CDTF">2026-04-22T06:58:08Z</dcterms:modified>
</cp:coreProperties>
</file>