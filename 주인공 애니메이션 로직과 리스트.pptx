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25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78" y="11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9F901-F3C8-4E15-BAEA-CD577B477211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AD179-66E2-4D5C-9664-43E538DF57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3532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9F901-F3C8-4E15-BAEA-CD577B477211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AD179-66E2-4D5C-9664-43E538DF57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1538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9F901-F3C8-4E15-BAEA-CD577B477211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AD179-66E2-4D5C-9664-43E538DF57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6599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9F901-F3C8-4E15-BAEA-CD577B477211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AD179-66E2-4D5C-9664-43E538DF57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7003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9F901-F3C8-4E15-BAEA-CD577B477211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AD179-66E2-4D5C-9664-43E538DF57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3430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9F901-F3C8-4E15-BAEA-CD577B477211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AD179-66E2-4D5C-9664-43E538DF57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4715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9F901-F3C8-4E15-BAEA-CD577B477211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AD179-66E2-4D5C-9664-43E538DF57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5656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9F901-F3C8-4E15-BAEA-CD577B477211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AD179-66E2-4D5C-9664-43E538DF57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7440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9F901-F3C8-4E15-BAEA-CD577B477211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AD179-66E2-4D5C-9664-43E538DF57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8192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9F901-F3C8-4E15-BAEA-CD577B477211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AD179-66E2-4D5C-9664-43E538DF57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3479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9F901-F3C8-4E15-BAEA-CD577B477211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AD179-66E2-4D5C-9664-43E538DF57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8194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49F901-F3C8-4E15-BAEA-CD577B477211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AD179-66E2-4D5C-9664-43E538DF57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8760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5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76F08D-BED7-EFA4-9D4E-39FE2830D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직사각형 68">
            <a:extLst>
              <a:ext uri="{FF2B5EF4-FFF2-40B4-BE49-F238E27FC236}">
                <a16:creationId xmlns:a16="http://schemas.microsoft.com/office/drawing/2014/main" id="{A0FB0078-3B22-49B1-1E83-DCE99298BBB1}"/>
              </a:ext>
            </a:extLst>
          </p:cNvPr>
          <p:cNvSpPr/>
          <p:nvPr/>
        </p:nvSpPr>
        <p:spPr>
          <a:xfrm>
            <a:off x="1878101" y="1758723"/>
            <a:ext cx="1541146" cy="1135713"/>
          </a:xfrm>
          <a:prstGeom prst="rect">
            <a:avLst/>
          </a:prstGeom>
          <a:noFill/>
          <a:ln w="38100">
            <a:solidFill>
              <a:srgbClr val="2F3339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500" dirty="0">
                <a:solidFill>
                  <a:srgbClr val="FFFFFF"/>
                </a:solidFill>
              </a:rPr>
              <a:t>대기</a:t>
            </a:r>
            <a:endParaRPr lang="en-US" altLang="ko-KR" sz="1500" dirty="0">
              <a:solidFill>
                <a:srgbClr val="FFFFFF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500" dirty="0">
                <a:solidFill>
                  <a:srgbClr val="FFFFFF"/>
                </a:solidFill>
              </a:rPr>
              <a:t>이동</a:t>
            </a:r>
            <a:endParaRPr lang="en-US" altLang="ko-KR" sz="1500" dirty="0">
              <a:solidFill>
                <a:srgbClr val="FFFFFF"/>
              </a:solidFill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CB5C0B38-01DB-74AE-2C1A-A58380293483}"/>
              </a:ext>
            </a:extLst>
          </p:cNvPr>
          <p:cNvSpPr/>
          <p:nvPr/>
        </p:nvSpPr>
        <p:spPr>
          <a:xfrm>
            <a:off x="1878101" y="4247916"/>
            <a:ext cx="1541146" cy="2023665"/>
          </a:xfrm>
          <a:prstGeom prst="rect">
            <a:avLst/>
          </a:prstGeom>
          <a:noFill/>
          <a:ln w="38100">
            <a:solidFill>
              <a:srgbClr val="2F3339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500" dirty="0">
                <a:solidFill>
                  <a:srgbClr val="FFFFFF"/>
                </a:solidFill>
              </a:rPr>
              <a:t>대기</a:t>
            </a:r>
            <a:endParaRPr lang="en-US" altLang="ko-KR" sz="1500" dirty="0">
              <a:solidFill>
                <a:srgbClr val="FFFFFF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500" dirty="0">
                <a:solidFill>
                  <a:srgbClr val="FFFFFF"/>
                </a:solidFill>
              </a:rPr>
              <a:t>이동</a:t>
            </a:r>
            <a:endParaRPr lang="en-US" altLang="ko-KR" sz="1500" dirty="0">
              <a:solidFill>
                <a:srgbClr val="FFFFFF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500" dirty="0">
                <a:solidFill>
                  <a:srgbClr val="FFFFFF"/>
                </a:solidFill>
              </a:rPr>
              <a:t>측면 이동</a:t>
            </a:r>
            <a:endParaRPr lang="en-US" altLang="ko-KR" sz="1500" dirty="0">
              <a:solidFill>
                <a:srgbClr val="FFFFFF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500" dirty="0">
                <a:solidFill>
                  <a:srgbClr val="FFFFFF"/>
                </a:solidFill>
              </a:rPr>
              <a:t>돌진</a:t>
            </a:r>
            <a:endParaRPr lang="en-US" altLang="ko-KR" sz="1500" dirty="0">
              <a:solidFill>
                <a:srgbClr val="FFFFFF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77215F-8B5B-BC4F-A4EE-7A509B152F51}"/>
              </a:ext>
            </a:extLst>
          </p:cNvPr>
          <p:cNvSpPr txBox="1"/>
          <p:nvPr/>
        </p:nvSpPr>
        <p:spPr>
          <a:xfrm>
            <a:off x="309654" y="366311"/>
            <a:ext cx="5199529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3000" smtClean="0">
                <a:solidFill>
                  <a:srgbClr val="BF5428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주인공</a:t>
            </a:r>
            <a:r>
              <a:rPr lang="en-US" altLang="ko-KR" sz="3000" smtClean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</a:t>
            </a:r>
            <a:r>
              <a:rPr lang="ko-KR" altLang="en-US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스킬 애니메이션 로직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8393ECD-E88A-0F32-B21C-A54F9EA5E970}"/>
              </a:ext>
            </a:extLst>
          </p:cNvPr>
          <p:cNvSpPr/>
          <p:nvPr/>
        </p:nvSpPr>
        <p:spPr>
          <a:xfrm>
            <a:off x="716531" y="1480841"/>
            <a:ext cx="757672" cy="386842"/>
          </a:xfrm>
          <a:prstGeom prst="rect">
            <a:avLst/>
          </a:prstGeom>
          <a:solidFill>
            <a:srgbClr val="2F3339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500" dirty="0"/>
              <a:t>생성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1A637E84-0794-8975-0377-205DA0E4F231}"/>
              </a:ext>
            </a:extLst>
          </p:cNvPr>
          <p:cNvSpPr/>
          <p:nvPr/>
        </p:nvSpPr>
        <p:spPr>
          <a:xfrm>
            <a:off x="2014011" y="1480841"/>
            <a:ext cx="1269326" cy="386842"/>
          </a:xfrm>
          <a:prstGeom prst="rect">
            <a:avLst/>
          </a:prstGeom>
          <a:solidFill>
            <a:srgbClr val="2F3339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500" dirty="0" err="1"/>
              <a:t>비전투</a:t>
            </a:r>
            <a:endParaRPr lang="ko-KR" altLang="en-US" sz="1500" dirty="0"/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0CD617AA-5CA7-C846-6C86-3DB845DE18A6}"/>
              </a:ext>
            </a:extLst>
          </p:cNvPr>
          <p:cNvSpPr/>
          <p:nvPr/>
        </p:nvSpPr>
        <p:spPr>
          <a:xfrm>
            <a:off x="2014011" y="3994381"/>
            <a:ext cx="1269326" cy="386842"/>
          </a:xfrm>
          <a:prstGeom prst="rect">
            <a:avLst/>
          </a:prstGeom>
          <a:solidFill>
            <a:srgbClr val="2F3339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500" dirty="0"/>
              <a:t>전투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D92A9C2A-DF39-580D-4808-08D0C511B619}"/>
              </a:ext>
            </a:extLst>
          </p:cNvPr>
          <p:cNvSpPr/>
          <p:nvPr/>
        </p:nvSpPr>
        <p:spPr>
          <a:xfrm>
            <a:off x="3920629" y="4562991"/>
            <a:ext cx="1541146" cy="1535295"/>
          </a:xfrm>
          <a:prstGeom prst="rect">
            <a:avLst/>
          </a:prstGeom>
          <a:noFill/>
          <a:ln w="38100">
            <a:solidFill>
              <a:srgbClr val="2F3339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500" dirty="0">
                <a:solidFill>
                  <a:srgbClr val="FFFFFF"/>
                </a:solidFill>
              </a:rPr>
              <a:t>기본 공격 </a:t>
            </a:r>
            <a:r>
              <a:rPr lang="en-US" altLang="ko-KR" sz="1500" dirty="0">
                <a:solidFill>
                  <a:srgbClr val="FFFFFF"/>
                </a:solidFill>
              </a:rPr>
              <a:t>1</a:t>
            </a:r>
          </a:p>
          <a:p>
            <a:pPr algn="ctr">
              <a:lnSpc>
                <a:spcPct val="150000"/>
              </a:lnSpc>
            </a:pPr>
            <a:r>
              <a:rPr lang="ko-KR" altLang="en-US" sz="1500" dirty="0">
                <a:solidFill>
                  <a:srgbClr val="FFFFFF"/>
                </a:solidFill>
              </a:rPr>
              <a:t>기본 공격 </a:t>
            </a:r>
            <a:r>
              <a:rPr lang="en-US" altLang="ko-KR" sz="1500" dirty="0">
                <a:solidFill>
                  <a:srgbClr val="FFFFFF"/>
                </a:solidFill>
              </a:rPr>
              <a:t>2</a:t>
            </a:r>
          </a:p>
          <a:p>
            <a:pPr algn="ctr">
              <a:lnSpc>
                <a:spcPct val="150000"/>
              </a:lnSpc>
            </a:pPr>
            <a:r>
              <a:rPr lang="ko-KR" altLang="en-US" sz="1500" dirty="0">
                <a:solidFill>
                  <a:srgbClr val="FFFFFF"/>
                </a:solidFill>
              </a:rPr>
              <a:t>연속 공격</a:t>
            </a:r>
            <a:endParaRPr lang="en-US" altLang="ko-KR" sz="1500" dirty="0">
              <a:solidFill>
                <a:srgbClr val="FFFFFF"/>
              </a:solidFill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F15F5949-1AE5-E8DE-4D1D-5AD93F19F557}"/>
              </a:ext>
            </a:extLst>
          </p:cNvPr>
          <p:cNvSpPr/>
          <p:nvPr/>
        </p:nvSpPr>
        <p:spPr>
          <a:xfrm>
            <a:off x="4056539" y="4284085"/>
            <a:ext cx="1269326" cy="386842"/>
          </a:xfrm>
          <a:prstGeom prst="rect">
            <a:avLst/>
          </a:prstGeom>
          <a:solidFill>
            <a:srgbClr val="2F3339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500" dirty="0"/>
              <a:t>기본 공격</a:t>
            </a: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EB2A1D9D-5F4D-139A-7E99-FBFA1FC53262}"/>
              </a:ext>
            </a:extLst>
          </p:cNvPr>
          <p:cNvSpPr/>
          <p:nvPr/>
        </p:nvSpPr>
        <p:spPr>
          <a:xfrm>
            <a:off x="5729763" y="4562991"/>
            <a:ext cx="1541146" cy="1535295"/>
          </a:xfrm>
          <a:prstGeom prst="rect">
            <a:avLst/>
          </a:prstGeom>
          <a:noFill/>
          <a:ln w="38100">
            <a:solidFill>
              <a:srgbClr val="2F3339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500" dirty="0">
                <a:solidFill>
                  <a:srgbClr val="FFFFFF"/>
                </a:solidFill>
              </a:rPr>
              <a:t>손 뻗기 실패</a:t>
            </a:r>
            <a:endParaRPr lang="en-US" altLang="ko-KR" sz="1500" dirty="0">
              <a:solidFill>
                <a:srgbClr val="FFFFFF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500" dirty="0">
                <a:solidFill>
                  <a:srgbClr val="FFFFFF"/>
                </a:solidFill>
              </a:rPr>
              <a:t>균열</a:t>
            </a:r>
            <a:endParaRPr lang="en-US" altLang="ko-KR" sz="1500" dirty="0">
              <a:solidFill>
                <a:srgbClr val="FFFFFF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500" dirty="0">
                <a:solidFill>
                  <a:srgbClr val="FFFFFF"/>
                </a:solidFill>
              </a:rPr>
              <a:t>기억 점멸</a:t>
            </a:r>
            <a:endParaRPr lang="en-US" altLang="ko-KR" sz="1500" dirty="0">
              <a:solidFill>
                <a:srgbClr val="FFFFFF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500" dirty="0">
                <a:solidFill>
                  <a:srgbClr val="FFFFFF"/>
                </a:solidFill>
              </a:rPr>
              <a:t>환영 소환</a:t>
            </a:r>
            <a:endParaRPr lang="en-US" altLang="ko-KR" sz="1500" dirty="0">
              <a:solidFill>
                <a:srgbClr val="FFFFFF"/>
              </a:solidFill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00C8BF4D-25A0-6970-137E-EC8ED8F1596D}"/>
              </a:ext>
            </a:extLst>
          </p:cNvPr>
          <p:cNvSpPr/>
          <p:nvPr/>
        </p:nvSpPr>
        <p:spPr>
          <a:xfrm>
            <a:off x="5865673" y="4284085"/>
            <a:ext cx="1269326" cy="386842"/>
          </a:xfrm>
          <a:prstGeom prst="rect">
            <a:avLst/>
          </a:prstGeom>
          <a:solidFill>
            <a:srgbClr val="2F3339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500" dirty="0"/>
              <a:t>스킬</a:t>
            </a: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63B2214D-0051-70EA-AA3A-2752F1283506}"/>
              </a:ext>
            </a:extLst>
          </p:cNvPr>
          <p:cNvSpPr/>
          <p:nvPr/>
        </p:nvSpPr>
        <p:spPr>
          <a:xfrm>
            <a:off x="9962755" y="4524366"/>
            <a:ext cx="1541146" cy="1568669"/>
          </a:xfrm>
          <a:prstGeom prst="rect">
            <a:avLst/>
          </a:prstGeom>
          <a:noFill/>
          <a:ln w="38100">
            <a:solidFill>
              <a:srgbClr val="2F3339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500" dirty="0" err="1">
                <a:solidFill>
                  <a:srgbClr val="FFFFFF"/>
                </a:solidFill>
              </a:rPr>
              <a:t>페이즈</a:t>
            </a:r>
            <a:r>
              <a:rPr lang="ko-KR" altLang="en-US" sz="1500" dirty="0">
                <a:solidFill>
                  <a:srgbClr val="FFFFFF"/>
                </a:solidFill>
              </a:rPr>
              <a:t> 전환</a:t>
            </a:r>
            <a:endParaRPr lang="en-US" altLang="ko-KR" sz="1500" dirty="0">
              <a:solidFill>
                <a:srgbClr val="FFFFFF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500" dirty="0">
                <a:solidFill>
                  <a:srgbClr val="FFFFFF"/>
                </a:solidFill>
              </a:rPr>
              <a:t>사망</a:t>
            </a:r>
            <a:endParaRPr lang="en-US" altLang="ko-KR" sz="1500" dirty="0">
              <a:solidFill>
                <a:srgbClr val="FFFFFF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500" dirty="0">
                <a:solidFill>
                  <a:srgbClr val="FFFFFF"/>
                </a:solidFill>
              </a:rPr>
              <a:t>정화</a:t>
            </a:r>
            <a:endParaRPr lang="en-US" altLang="ko-KR" sz="1500" dirty="0">
              <a:solidFill>
                <a:srgbClr val="FFFFFF"/>
              </a:solidFill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F0093E59-BC69-413F-2AC8-33C26E752B2D}"/>
              </a:ext>
            </a:extLst>
          </p:cNvPr>
          <p:cNvSpPr/>
          <p:nvPr/>
        </p:nvSpPr>
        <p:spPr>
          <a:xfrm>
            <a:off x="10098665" y="4245460"/>
            <a:ext cx="1269326" cy="386842"/>
          </a:xfrm>
          <a:prstGeom prst="rect">
            <a:avLst/>
          </a:prstGeom>
          <a:solidFill>
            <a:srgbClr val="2F3339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500" dirty="0"/>
              <a:t>연출</a:t>
            </a: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824A7B9A-B41C-543F-0497-73EA08937BB9}"/>
              </a:ext>
            </a:extLst>
          </p:cNvPr>
          <p:cNvSpPr/>
          <p:nvPr/>
        </p:nvSpPr>
        <p:spPr>
          <a:xfrm>
            <a:off x="5505614" y="1724331"/>
            <a:ext cx="1541146" cy="1573889"/>
          </a:xfrm>
          <a:prstGeom prst="rect">
            <a:avLst/>
          </a:prstGeom>
          <a:noFill/>
          <a:ln w="38100">
            <a:solidFill>
              <a:srgbClr val="2F3339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500" dirty="0">
                <a:solidFill>
                  <a:srgbClr val="FFFFFF"/>
                </a:solidFill>
              </a:rPr>
              <a:t>스턴</a:t>
            </a:r>
            <a:endParaRPr lang="en-US" altLang="ko-KR" sz="1500" dirty="0">
              <a:solidFill>
                <a:srgbClr val="FFFFFF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500" dirty="0">
                <a:solidFill>
                  <a:srgbClr val="FFFFFF"/>
                </a:solidFill>
              </a:rPr>
              <a:t>정신 붕괴</a:t>
            </a:r>
            <a:endParaRPr lang="en-US" altLang="ko-KR" sz="1500" dirty="0">
              <a:solidFill>
                <a:srgbClr val="FFFFFF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500" dirty="0">
                <a:solidFill>
                  <a:srgbClr val="FFFFFF"/>
                </a:solidFill>
              </a:rPr>
              <a:t>인간성 동요</a:t>
            </a:r>
            <a:endParaRPr lang="en-US" altLang="ko-KR" sz="1500" dirty="0">
              <a:solidFill>
                <a:srgbClr val="FFFFFF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500" dirty="0">
                <a:solidFill>
                  <a:srgbClr val="FFFFFF"/>
                </a:solidFill>
              </a:rPr>
              <a:t>기억 플래시백</a:t>
            </a:r>
            <a:endParaRPr lang="en-US" altLang="ko-KR" sz="1500" dirty="0">
              <a:solidFill>
                <a:srgbClr val="FFFFFF"/>
              </a:solidFill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0748C073-7E6F-4C50-0F36-95A160EC4ECE}"/>
              </a:ext>
            </a:extLst>
          </p:cNvPr>
          <p:cNvSpPr/>
          <p:nvPr/>
        </p:nvSpPr>
        <p:spPr>
          <a:xfrm>
            <a:off x="5641524" y="1445425"/>
            <a:ext cx="1269326" cy="386842"/>
          </a:xfrm>
          <a:prstGeom prst="rect">
            <a:avLst/>
          </a:prstGeom>
          <a:solidFill>
            <a:srgbClr val="2F3339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500" dirty="0"/>
              <a:t>추가 동작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17BC2E9-69F4-CA72-CE7B-22B8F564937E}"/>
              </a:ext>
            </a:extLst>
          </p:cNvPr>
          <p:cNvSpPr/>
          <p:nvPr/>
        </p:nvSpPr>
        <p:spPr>
          <a:xfrm>
            <a:off x="3738088" y="3672657"/>
            <a:ext cx="5524496" cy="2598924"/>
          </a:xfrm>
          <a:prstGeom prst="rect">
            <a:avLst/>
          </a:prstGeom>
          <a:noFill/>
          <a:ln>
            <a:solidFill>
              <a:srgbClr val="FFFFFF">
                <a:alpha val="30000"/>
              </a:srgb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/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F4F6DA32-3BCA-6C95-544B-277AC5A23F38}"/>
              </a:ext>
            </a:extLst>
          </p:cNvPr>
          <p:cNvSpPr/>
          <p:nvPr/>
        </p:nvSpPr>
        <p:spPr>
          <a:xfrm>
            <a:off x="7538897" y="4558635"/>
            <a:ext cx="1541146" cy="637920"/>
          </a:xfrm>
          <a:prstGeom prst="rect">
            <a:avLst/>
          </a:prstGeom>
          <a:noFill/>
          <a:ln w="38100">
            <a:solidFill>
              <a:srgbClr val="2F3339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500" dirty="0">
                <a:solidFill>
                  <a:srgbClr val="FFFFFF"/>
                </a:solidFill>
              </a:rPr>
              <a:t>도발</a:t>
            </a:r>
            <a:endParaRPr lang="en-US" altLang="ko-KR" sz="1500" dirty="0">
              <a:solidFill>
                <a:srgbClr val="FFFFFF"/>
              </a:solidFill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1BAA9415-6A2E-3A19-4E9B-11C4B5B88D33}"/>
              </a:ext>
            </a:extLst>
          </p:cNvPr>
          <p:cNvSpPr/>
          <p:nvPr/>
        </p:nvSpPr>
        <p:spPr>
          <a:xfrm>
            <a:off x="7674807" y="4279728"/>
            <a:ext cx="1269326" cy="386842"/>
          </a:xfrm>
          <a:prstGeom prst="rect">
            <a:avLst/>
          </a:prstGeom>
          <a:solidFill>
            <a:srgbClr val="2F3339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500" dirty="0"/>
              <a:t>추가 동작</a:t>
            </a: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9478FF9B-69BF-3316-F940-950590050122}"/>
              </a:ext>
            </a:extLst>
          </p:cNvPr>
          <p:cNvCxnSpPr>
            <a:cxnSpLocks/>
          </p:cNvCxnSpPr>
          <p:nvPr/>
        </p:nvCxnSpPr>
        <p:spPr>
          <a:xfrm flipV="1">
            <a:off x="5461775" y="3424422"/>
            <a:ext cx="0" cy="248235"/>
          </a:xfrm>
          <a:prstGeom prst="straightConnector1">
            <a:avLst/>
          </a:prstGeom>
          <a:ln w="12700">
            <a:solidFill>
              <a:srgbClr val="FFFFF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화살표 연결선 90">
            <a:extLst>
              <a:ext uri="{FF2B5EF4-FFF2-40B4-BE49-F238E27FC236}">
                <a16:creationId xmlns:a16="http://schemas.microsoft.com/office/drawing/2014/main" id="{A355D5BC-B9D0-61FC-78AB-567605FA9D87}"/>
              </a:ext>
            </a:extLst>
          </p:cNvPr>
          <p:cNvCxnSpPr>
            <a:cxnSpLocks/>
          </p:cNvCxnSpPr>
          <p:nvPr/>
        </p:nvCxnSpPr>
        <p:spPr>
          <a:xfrm flipH="1">
            <a:off x="3444649" y="5313411"/>
            <a:ext cx="293439" cy="0"/>
          </a:xfrm>
          <a:prstGeom prst="straightConnector1">
            <a:avLst/>
          </a:prstGeom>
          <a:ln w="12700">
            <a:solidFill>
              <a:srgbClr val="FFFFF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화살표 연결선 91">
            <a:extLst>
              <a:ext uri="{FF2B5EF4-FFF2-40B4-BE49-F238E27FC236}">
                <a16:creationId xmlns:a16="http://schemas.microsoft.com/office/drawing/2014/main" id="{E231378E-C342-5853-D71B-0EC2F4D4D21A}"/>
              </a:ext>
            </a:extLst>
          </p:cNvPr>
          <p:cNvCxnSpPr/>
          <p:nvPr/>
        </p:nvCxnSpPr>
        <p:spPr>
          <a:xfrm>
            <a:off x="4686867" y="3917662"/>
            <a:ext cx="0" cy="358222"/>
          </a:xfrm>
          <a:prstGeom prst="straightConnector1">
            <a:avLst/>
          </a:prstGeom>
          <a:ln w="12700">
            <a:solidFill>
              <a:srgbClr val="FFFFFF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84A7D307-EE38-BB19-0A18-039427336705}"/>
              </a:ext>
            </a:extLst>
          </p:cNvPr>
          <p:cNvCxnSpPr>
            <a:cxnSpLocks/>
          </p:cNvCxnSpPr>
          <p:nvPr/>
        </p:nvCxnSpPr>
        <p:spPr>
          <a:xfrm>
            <a:off x="4686867" y="3917662"/>
            <a:ext cx="3639002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화살표 연결선 95">
            <a:extLst>
              <a:ext uri="{FF2B5EF4-FFF2-40B4-BE49-F238E27FC236}">
                <a16:creationId xmlns:a16="http://schemas.microsoft.com/office/drawing/2014/main" id="{5F932085-86A4-67B5-E279-617B1681A131}"/>
              </a:ext>
            </a:extLst>
          </p:cNvPr>
          <p:cNvCxnSpPr/>
          <p:nvPr/>
        </p:nvCxnSpPr>
        <p:spPr>
          <a:xfrm>
            <a:off x="6508410" y="3917662"/>
            <a:ext cx="0" cy="358222"/>
          </a:xfrm>
          <a:prstGeom prst="straightConnector1">
            <a:avLst/>
          </a:prstGeom>
          <a:ln w="12700">
            <a:solidFill>
              <a:srgbClr val="FFFFFF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92333C9A-139D-FAEC-C482-E6EA74ADE402}"/>
              </a:ext>
            </a:extLst>
          </p:cNvPr>
          <p:cNvCxnSpPr>
            <a:cxnSpLocks/>
          </p:cNvCxnSpPr>
          <p:nvPr/>
        </p:nvCxnSpPr>
        <p:spPr>
          <a:xfrm>
            <a:off x="8325869" y="3917662"/>
            <a:ext cx="0" cy="358222"/>
          </a:xfrm>
          <a:prstGeom prst="straightConnector1">
            <a:avLst/>
          </a:prstGeom>
          <a:ln w="12700">
            <a:solidFill>
              <a:srgbClr val="FFFFFF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화살표 연결선 113">
            <a:extLst>
              <a:ext uri="{FF2B5EF4-FFF2-40B4-BE49-F238E27FC236}">
                <a16:creationId xmlns:a16="http://schemas.microsoft.com/office/drawing/2014/main" id="{CE6B5652-D30B-565F-4C55-9C05F56A7E4F}"/>
              </a:ext>
            </a:extLst>
          </p:cNvPr>
          <p:cNvCxnSpPr>
            <a:cxnSpLocks/>
            <a:stCxn id="51" idx="1"/>
            <a:endCxn id="11" idx="3"/>
          </p:cNvCxnSpPr>
          <p:nvPr/>
        </p:nvCxnSpPr>
        <p:spPr>
          <a:xfrm flipH="1">
            <a:off x="1474203" y="1674262"/>
            <a:ext cx="539808" cy="0"/>
          </a:xfrm>
          <a:prstGeom prst="straightConnector1">
            <a:avLst/>
          </a:prstGeom>
          <a:ln w="12700">
            <a:solidFill>
              <a:srgbClr val="FFFFFF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4B4F9AAA-3885-F23C-4032-3BCDB7C0AECC}"/>
              </a:ext>
            </a:extLst>
          </p:cNvPr>
          <p:cNvSpPr/>
          <p:nvPr/>
        </p:nvSpPr>
        <p:spPr>
          <a:xfrm>
            <a:off x="9789598" y="1607510"/>
            <a:ext cx="1541146" cy="1568669"/>
          </a:xfrm>
          <a:prstGeom prst="rect">
            <a:avLst/>
          </a:prstGeom>
          <a:noFill/>
          <a:ln w="38100">
            <a:solidFill>
              <a:srgbClr val="2F3339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500" dirty="0">
                <a:solidFill>
                  <a:srgbClr val="FFFFFF"/>
                </a:solidFill>
              </a:rPr>
              <a:t>트라우마 절규</a:t>
            </a:r>
            <a:endParaRPr lang="en-US" altLang="ko-KR" sz="1500" dirty="0">
              <a:solidFill>
                <a:srgbClr val="FFFFFF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500" dirty="0">
                <a:solidFill>
                  <a:srgbClr val="FFFFFF"/>
                </a:solidFill>
              </a:rPr>
              <a:t>왜곡 난타</a:t>
            </a:r>
            <a:endParaRPr lang="en-US" altLang="ko-KR" sz="1500" dirty="0">
              <a:solidFill>
                <a:srgbClr val="FFFFFF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500" dirty="0">
                <a:solidFill>
                  <a:srgbClr val="FFFFFF"/>
                </a:solidFill>
              </a:rPr>
              <a:t>기억 붕괴</a:t>
            </a:r>
            <a:endParaRPr lang="en-US" altLang="ko-KR" sz="1500" dirty="0">
              <a:solidFill>
                <a:srgbClr val="FFFFFF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500" smtClean="0">
                <a:solidFill>
                  <a:srgbClr val="FFFFFF"/>
                </a:solidFill>
              </a:rPr>
              <a:t>절망 </a:t>
            </a:r>
            <a:r>
              <a:rPr lang="ko-KR" altLang="en-US" sz="1500" dirty="0">
                <a:solidFill>
                  <a:srgbClr val="FFFFFF"/>
                </a:solidFill>
              </a:rPr>
              <a:t>포효</a:t>
            </a:r>
            <a:endParaRPr lang="en-US" altLang="ko-KR" sz="1500" dirty="0">
              <a:solidFill>
                <a:srgbClr val="FFFFFF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4B7F3BC-D088-9DA9-C9F3-DCA36ABDD357}"/>
              </a:ext>
            </a:extLst>
          </p:cNvPr>
          <p:cNvSpPr/>
          <p:nvPr/>
        </p:nvSpPr>
        <p:spPr>
          <a:xfrm>
            <a:off x="9925508" y="1328604"/>
            <a:ext cx="1269326" cy="386842"/>
          </a:xfrm>
          <a:prstGeom prst="rect">
            <a:avLst/>
          </a:prstGeom>
          <a:solidFill>
            <a:srgbClr val="2F3339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500" smtClean="0"/>
              <a:t>스킬</a:t>
            </a:r>
            <a:endParaRPr lang="ko-KR" altLang="en-US" sz="1500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0742547-0070-7991-5B3B-1645DD0E8024}"/>
              </a:ext>
            </a:extLst>
          </p:cNvPr>
          <p:cNvSpPr/>
          <p:nvPr/>
        </p:nvSpPr>
        <p:spPr>
          <a:xfrm>
            <a:off x="3839733" y="1757877"/>
            <a:ext cx="1541146" cy="1319428"/>
          </a:xfrm>
          <a:prstGeom prst="rect">
            <a:avLst/>
          </a:prstGeom>
          <a:noFill/>
          <a:ln w="38100">
            <a:solidFill>
              <a:srgbClr val="2F3339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500" dirty="0">
                <a:solidFill>
                  <a:srgbClr val="FFFFFF"/>
                </a:solidFill>
              </a:rPr>
              <a:t>피격</a:t>
            </a:r>
            <a:endParaRPr lang="en-US" altLang="ko-KR" sz="1500" dirty="0">
              <a:solidFill>
                <a:srgbClr val="FFFFFF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500" smtClean="0">
                <a:solidFill>
                  <a:srgbClr val="FFFFFF"/>
                </a:solidFill>
              </a:rPr>
              <a:t>강피격</a:t>
            </a:r>
            <a:endParaRPr lang="en-US" altLang="ko-KR" sz="1500" smtClean="0">
              <a:solidFill>
                <a:srgbClr val="FFFFFF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500" smtClean="0">
                <a:solidFill>
                  <a:srgbClr val="FFFFFF"/>
                </a:solidFill>
              </a:rPr>
              <a:t>브레이크</a:t>
            </a:r>
            <a:endParaRPr lang="en-US" altLang="ko-KR" sz="1500">
              <a:solidFill>
                <a:srgbClr val="FFFFFF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751FD6C-7B42-C6BD-EE28-B3F9A676D685}"/>
              </a:ext>
            </a:extLst>
          </p:cNvPr>
          <p:cNvSpPr/>
          <p:nvPr/>
        </p:nvSpPr>
        <p:spPr>
          <a:xfrm>
            <a:off x="3975643" y="1479995"/>
            <a:ext cx="1269326" cy="386842"/>
          </a:xfrm>
          <a:prstGeom prst="rect">
            <a:avLst/>
          </a:prstGeom>
          <a:solidFill>
            <a:srgbClr val="2F3339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500" dirty="0"/>
              <a:t>데미지 동작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60425FE-7733-3CAD-1AF2-430A320BDCA8}"/>
              </a:ext>
            </a:extLst>
          </p:cNvPr>
          <p:cNvSpPr/>
          <p:nvPr/>
        </p:nvSpPr>
        <p:spPr>
          <a:xfrm>
            <a:off x="7980464" y="1606486"/>
            <a:ext cx="1541146" cy="1135713"/>
          </a:xfrm>
          <a:prstGeom prst="rect">
            <a:avLst/>
          </a:prstGeom>
          <a:noFill/>
          <a:ln w="38100">
            <a:solidFill>
              <a:srgbClr val="2F3339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500" dirty="0">
                <a:solidFill>
                  <a:srgbClr val="FFFFFF"/>
                </a:solidFill>
              </a:rPr>
              <a:t>대기</a:t>
            </a:r>
            <a:endParaRPr lang="en-US" altLang="ko-KR" sz="1500" dirty="0">
              <a:solidFill>
                <a:srgbClr val="FFFFFF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500" dirty="0">
                <a:solidFill>
                  <a:srgbClr val="FFFFFF"/>
                </a:solidFill>
              </a:rPr>
              <a:t>이동</a:t>
            </a:r>
            <a:endParaRPr lang="en-US" altLang="ko-KR" sz="1500" dirty="0">
              <a:solidFill>
                <a:srgbClr val="FFFFFF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6A5D9FA-44F0-EDA4-7122-77A8D4139803}"/>
              </a:ext>
            </a:extLst>
          </p:cNvPr>
          <p:cNvSpPr/>
          <p:nvPr/>
        </p:nvSpPr>
        <p:spPr>
          <a:xfrm>
            <a:off x="8116374" y="1328604"/>
            <a:ext cx="1269326" cy="386842"/>
          </a:xfrm>
          <a:prstGeom prst="rect">
            <a:avLst/>
          </a:prstGeom>
          <a:solidFill>
            <a:srgbClr val="2F3339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500" dirty="0"/>
              <a:t>광폭화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5F9EACC3-599A-39FC-6D06-BE3D4875E844}"/>
              </a:ext>
            </a:extLst>
          </p:cNvPr>
          <p:cNvSpPr/>
          <p:nvPr/>
        </p:nvSpPr>
        <p:spPr>
          <a:xfrm>
            <a:off x="7776412" y="763377"/>
            <a:ext cx="3728834" cy="2582046"/>
          </a:xfrm>
          <a:prstGeom prst="rect">
            <a:avLst/>
          </a:prstGeom>
          <a:noFill/>
          <a:ln>
            <a:solidFill>
              <a:srgbClr val="BF5428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/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83C74428-6F07-48F3-6B9D-27265C717569}"/>
              </a:ext>
            </a:extLst>
          </p:cNvPr>
          <p:cNvCxnSpPr>
            <a:cxnSpLocks/>
          </p:cNvCxnSpPr>
          <p:nvPr/>
        </p:nvCxnSpPr>
        <p:spPr>
          <a:xfrm flipH="1">
            <a:off x="7134999" y="2325531"/>
            <a:ext cx="641413" cy="0"/>
          </a:xfrm>
          <a:prstGeom prst="straightConnector1">
            <a:avLst/>
          </a:prstGeom>
          <a:ln w="12700">
            <a:solidFill>
              <a:srgbClr val="FFFFF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9E42646C-A03E-A3F4-72C9-EB4056B454F6}"/>
              </a:ext>
            </a:extLst>
          </p:cNvPr>
          <p:cNvSpPr/>
          <p:nvPr/>
        </p:nvSpPr>
        <p:spPr>
          <a:xfrm>
            <a:off x="3738088" y="1327839"/>
            <a:ext cx="3411022" cy="2084257"/>
          </a:xfrm>
          <a:prstGeom prst="rect">
            <a:avLst/>
          </a:prstGeom>
          <a:noFill/>
          <a:ln>
            <a:solidFill>
              <a:srgbClr val="FFFFFF">
                <a:alpha val="30000"/>
              </a:srgb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/>
          </a:p>
        </p:txBody>
      </p: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53ABD27E-FF4E-F9E9-8421-54BA1659F558}"/>
              </a:ext>
            </a:extLst>
          </p:cNvPr>
          <p:cNvCxnSpPr/>
          <p:nvPr/>
        </p:nvCxnSpPr>
        <p:spPr>
          <a:xfrm>
            <a:off x="8745436" y="958647"/>
            <a:ext cx="0" cy="358222"/>
          </a:xfrm>
          <a:prstGeom prst="straightConnector1">
            <a:avLst/>
          </a:prstGeom>
          <a:ln w="12700">
            <a:solidFill>
              <a:srgbClr val="FFFFFF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AF80A091-2AC0-DC12-9CFD-C3437619BCBD}"/>
              </a:ext>
            </a:extLst>
          </p:cNvPr>
          <p:cNvCxnSpPr>
            <a:cxnSpLocks/>
          </p:cNvCxnSpPr>
          <p:nvPr/>
        </p:nvCxnSpPr>
        <p:spPr>
          <a:xfrm>
            <a:off x="8745436" y="958647"/>
            <a:ext cx="1803523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23373B66-8945-7CE7-EEA9-0E1DB5EEAC2C}"/>
              </a:ext>
            </a:extLst>
          </p:cNvPr>
          <p:cNvCxnSpPr/>
          <p:nvPr/>
        </p:nvCxnSpPr>
        <p:spPr>
          <a:xfrm>
            <a:off x="10548959" y="958647"/>
            <a:ext cx="0" cy="358222"/>
          </a:xfrm>
          <a:prstGeom prst="straightConnector1">
            <a:avLst/>
          </a:prstGeom>
          <a:ln w="12700">
            <a:solidFill>
              <a:srgbClr val="FFFFFF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FDDA5A5C-7687-EC59-F6DE-27B1045D24F4}"/>
              </a:ext>
            </a:extLst>
          </p:cNvPr>
          <p:cNvCxnSpPr>
            <a:cxnSpLocks/>
          </p:cNvCxnSpPr>
          <p:nvPr/>
        </p:nvCxnSpPr>
        <p:spPr>
          <a:xfrm flipH="1">
            <a:off x="9262584" y="5313411"/>
            <a:ext cx="662924" cy="0"/>
          </a:xfrm>
          <a:prstGeom prst="straightConnector1">
            <a:avLst/>
          </a:prstGeom>
          <a:ln w="12700">
            <a:solidFill>
              <a:srgbClr val="FFFFF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92333C9A-139D-FAEC-C482-E6EA74ADE402}"/>
              </a:ext>
            </a:extLst>
          </p:cNvPr>
          <p:cNvCxnSpPr>
            <a:cxnSpLocks/>
            <a:stCxn id="69" idx="2"/>
            <a:endCxn id="70" idx="0"/>
          </p:cNvCxnSpPr>
          <p:nvPr/>
        </p:nvCxnSpPr>
        <p:spPr>
          <a:xfrm>
            <a:off x="2648674" y="2894436"/>
            <a:ext cx="0" cy="1099945"/>
          </a:xfrm>
          <a:prstGeom prst="straightConnector1">
            <a:avLst/>
          </a:prstGeom>
          <a:ln w="12700">
            <a:solidFill>
              <a:srgbClr val="FFFFFF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9478FF9B-69BF-3316-F940-950590050122}"/>
              </a:ext>
            </a:extLst>
          </p:cNvPr>
          <p:cNvCxnSpPr>
            <a:cxnSpLocks/>
            <a:stCxn id="78" idx="0"/>
          </p:cNvCxnSpPr>
          <p:nvPr/>
        </p:nvCxnSpPr>
        <p:spPr>
          <a:xfrm flipH="1" flipV="1">
            <a:off x="10730345" y="3345423"/>
            <a:ext cx="2983" cy="900037"/>
          </a:xfrm>
          <a:prstGeom prst="straightConnector1">
            <a:avLst/>
          </a:prstGeom>
          <a:ln w="12700">
            <a:solidFill>
              <a:srgbClr val="FFFFF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9702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5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7AD002-78C5-FAD3-76AE-181128006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D1E0F62-F67B-42A6-8273-113484C4359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307694" y="1430164"/>
          <a:ext cx="11576611" cy="49185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115">
                  <a:extLst>
                    <a:ext uri="{9D8B030D-6E8A-4147-A177-3AD203B41FA5}">
                      <a16:colId xmlns:a16="http://schemas.microsoft.com/office/drawing/2014/main" val="1760504680"/>
                    </a:ext>
                  </a:extLst>
                </a:gridCol>
                <a:gridCol w="1033669">
                  <a:extLst>
                    <a:ext uri="{9D8B030D-6E8A-4147-A177-3AD203B41FA5}">
                      <a16:colId xmlns:a16="http://schemas.microsoft.com/office/drawing/2014/main" val="3705991395"/>
                    </a:ext>
                  </a:extLst>
                </a:gridCol>
                <a:gridCol w="2551044">
                  <a:extLst>
                    <a:ext uri="{9D8B030D-6E8A-4147-A177-3AD203B41FA5}">
                      <a16:colId xmlns:a16="http://schemas.microsoft.com/office/drawing/2014/main" val="382224707"/>
                    </a:ext>
                  </a:extLst>
                </a:gridCol>
                <a:gridCol w="2393261">
                  <a:extLst>
                    <a:ext uri="{9D8B030D-6E8A-4147-A177-3AD203B41FA5}">
                      <a16:colId xmlns:a16="http://schemas.microsoft.com/office/drawing/2014/main" val="89865077"/>
                    </a:ext>
                  </a:extLst>
                </a:gridCol>
                <a:gridCol w="2393261">
                  <a:extLst>
                    <a:ext uri="{9D8B030D-6E8A-4147-A177-3AD203B41FA5}">
                      <a16:colId xmlns:a16="http://schemas.microsoft.com/office/drawing/2014/main" val="2027190283"/>
                    </a:ext>
                  </a:extLst>
                </a:gridCol>
                <a:gridCol w="2393261">
                  <a:extLst>
                    <a:ext uri="{9D8B030D-6E8A-4147-A177-3AD203B41FA5}">
                      <a16:colId xmlns:a16="http://schemas.microsoft.com/office/drawing/2014/main" val="3721451741"/>
                    </a:ext>
                  </a:extLst>
                </a:gridCol>
              </a:tblGrid>
              <a:tr h="37034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구분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542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동작 타입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542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컨셉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5428">
                        <a:alpha val="30000"/>
                      </a:srgb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단계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5428">
                        <a:alpha val="3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342522"/>
                  </a:ext>
                </a:extLst>
              </a:tr>
              <a:tr h="568521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 err="1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비전투</a:t>
                      </a:r>
                      <a:endParaRPr lang="ko-KR" altLang="en-US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대기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냉기 속에 봉인된 듯 정지 상태로 냉기 방출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(0.4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고개를 숙이며 공중에 부유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(Loop)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냉기 방출 및 손끝 미세 흔들림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(0.4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자세를 풀며 다음 상태 전환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1798336"/>
                  </a:ext>
                </a:extLst>
              </a:tr>
              <a:tr h="568521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이동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천천히 전투 전 공간을 부유하며 배회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(0.3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상체를 기울여 이동 자세 진입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(Loop)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저속 부유 이동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(0.3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정지 자세 복귀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7537317"/>
                  </a:ext>
                </a:extLst>
              </a:tr>
              <a:tr h="568521">
                <a:tc rowSpan="4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전투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대기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플레이어를 응시하며 위협 자세 유지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(0.4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플레이어를 향해 몸을 틀어 전투 자세 진입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(Loop)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위협 자세 및 냉기 강화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(0.4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다음 행동 준비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9948897"/>
                  </a:ext>
                </a:extLst>
              </a:tr>
              <a:tr h="568521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이동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플레이어 추적 부유 이동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(0.2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상체를 앞으로 기울임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(Loop)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빠른 부유 이동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(0.2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정지 자세 복귀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3252163"/>
                  </a:ext>
                </a:extLst>
              </a:tr>
              <a:tr h="568521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측면 이동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좌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/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우 회피 이동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선행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(0.2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몸을 압축하며 왜곡 에너지 응축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 중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(0.4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전방으로 고속 돌진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후행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(0.2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잔상 해제 후 빈틈 노출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248931"/>
                  </a:ext>
                </a:extLst>
              </a:tr>
              <a:tr h="568521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돌진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공간 왜곡 돌진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(0.1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충격 수신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(0.2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상체가 뒤로 흔들림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(0.2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자세 복귀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8583329"/>
                  </a:ext>
                </a:extLst>
              </a:tr>
              <a:tr h="568521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데미지</a:t>
                      </a:r>
                      <a:endParaRPr lang="en-US" altLang="ko-KR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동작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피격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약 피격 반응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(0.1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충격 수신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(0.2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상체가 뒤로 흔들림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(0.2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자세 복귀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7730592"/>
                  </a:ext>
                </a:extLst>
              </a:tr>
              <a:tr h="568521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 err="1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강피격</a:t>
                      </a:r>
                      <a:endParaRPr lang="ko-KR" altLang="en-US" sz="1000" b="0" dirty="0">
                        <a:solidFill>
                          <a:srgbClr val="F8F9FA"/>
                        </a:solidFill>
                        <a:effectLst/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강 피격 반응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(0.2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큰 충격 수신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(0.4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몸 전체가 뒤틀림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(0.4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균형 회복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581787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7671B1C6-0131-52B0-55CB-F5C1C469ECBE}"/>
              </a:ext>
            </a:extLst>
          </p:cNvPr>
          <p:cNvSpPr txBox="1"/>
          <p:nvPr/>
        </p:nvSpPr>
        <p:spPr>
          <a:xfrm>
            <a:off x="427915" y="509328"/>
            <a:ext cx="113361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 dirty="0">
                <a:solidFill>
                  <a:srgbClr val="BF5428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보스</a:t>
            </a:r>
            <a:r>
              <a:rPr lang="en-US" altLang="ko-KR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</a:t>
            </a:r>
            <a:r>
              <a:rPr lang="ko-KR" altLang="en-US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애니메이션 리스트 </a:t>
            </a:r>
            <a:r>
              <a:rPr lang="en-US" altLang="ko-KR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– </a:t>
            </a:r>
            <a:r>
              <a:rPr lang="ko-KR" altLang="en-US" sz="3000" dirty="0" err="1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비전투</a:t>
            </a:r>
            <a:r>
              <a:rPr lang="ko-KR" altLang="en-US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</a:t>
            </a:r>
            <a:r>
              <a:rPr lang="en-US" altLang="ko-KR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/ </a:t>
            </a:r>
            <a:r>
              <a:rPr lang="ko-KR" altLang="en-US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전투 </a:t>
            </a:r>
            <a:r>
              <a:rPr lang="en-US" altLang="ko-KR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/ </a:t>
            </a:r>
            <a:r>
              <a:rPr lang="ko-KR" altLang="en-US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데미지 동작</a:t>
            </a:r>
            <a:endParaRPr lang="ko-KR" altLang="en-US" sz="3000" dirty="0">
              <a:solidFill>
                <a:srgbClr val="00B050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4D2A95F8-812B-12AA-D518-3FE8EE78EE83}"/>
              </a:ext>
            </a:extLst>
          </p:cNvPr>
          <p:cNvCxnSpPr>
            <a:cxnSpLocks/>
          </p:cNvCxnSpPr>
          <p:nvPr/>
        </p:nvCxnSpPr>
        <p:spPr>
          <a:xfrm>
            <a:off x="1120378" y="3504456"/>
            <a:ext cx="10763927" cy="0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DDE10AEC-90AB-E56B-FCCA-9E341BDAB753}"/>
              </a:ext>
            </a:extLst>
          </p:cNvPr>
          <p:cNvCxnSpPr>
            <a:cxnSpLocks/>
          </p:cNvCxnSpPr>
          <p:nvPr/>
        </p:nvCxnSpPr>
        <p:spPr>
          <a:xfrm>
            <a:off x="307694" y="6348672"/>
            <a:ext cx="11576611" cy="0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72BE82ED-124A-B32D-7122-459860E09590}"/>
              </a:ext>
            </a:extLst>
          </p:cNvPr>
          <p:cNvCxnSpPr>
            <a:cxnSpLocks/>
          </p:cNvCxnSpPr>
          <p:nvPr/>
        </p:nvCxnSpPr>
        <p:spPr>
          <a:xfrm>
            <a:off x="1120378" y="4073575"/>
            <a:ext cx="10763927" cy="0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08AF3BAE-6771-CD8C-9A0B-01CDC33E3BC3}"/>
              </a:ext>
            </a:extLst>
          </p:cNvPr>
          <p:cNvCxnSpPr>
            <a:cxnSpLocks/>
          </p:cNvCxnSpPr>
          <p:nvPr/>
        </p:nvCxnSpPr>
        <p:spPr>
          <a:xfrm>
            <a:off x="1120378" y="4642693"/>
            <a:ext cx="10763927" cy="0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50C9E3B6-75F9-E19A-B398-B64A914C963B}"/>
              </a:ext>
            </a:extLst>
          </p:cNvPr>
          <p:cNvCxnSpPr>
            <a:cxnSpLocks/>
          </p:cNvCxnSpPr>
          <p:nvPr/>
        </p:nvCxnSpPr>
        <p:spPr>
          <a:xfrm>
            <a:off x="1120378" y="5778153"/>
            <a:ext cx="10763927" cy="0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C687C9B7-842F-6C61-D0B8-6822EE9CC9F1}"/>
              </a:ext>
            </a:extLst>
          </p:cNvPr>
          <p:cNvCxnSpPr>
            <a:cxnSpLocks/>
          </p:cNvCxnSpPr>
          <p:nvPr/>
        </p:nvCxnSpPr>
        <p:spPr>
          <a:xfrm>
            <a:off x="1120378" y="2367808"/>
            <a:ext cx="10763927" cy="0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D158AC55-914B-6BDA-7B0E-0B520CB056B0}"/>
              </a:ext>
            </a:extLst>
          </p:cNvPr>
          <p:cNvCxnSpPr>
            <a:cxnSpLocks/>
          </p:cNvCxnSpPr>
          <p:nvPr/>
        </p:nvCxnSpPr>
        <p:spPr>
          <a:xfrm>
            <a:off x="307694" y="1799970"/>
            <a:ext cx="11576611" cy="0"/>
          </a:xfrm>
          <a:prstGeom prst="line">
            <a:avLst/>
          </a:prstGeom>
          <a:ln w="25400">
            <a:solidFill>
              <a:srgbClr val="BF54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D158AC55-914B-6BDA-7B0E-0B520CB056B0}"/>
              </a:ext>
            </a:extLst>
          </p:cNvPr>
          <p:cNvCxnSpPr>
            <a:cxnSpLocks/>
          </p:cNvCxnSpPr>
          <p:nvPr/>
        </p:nvCxnSpPr>
        <p:spPr>
          <a:xfrm>
            <a:off x="1118538" y="1430164"/>
            <a:ext cx="0" cy="4918508"/>
          </a:xfrm>
          <a:prstGeom prst="line">
            <a:avLst/>
          </a:prstGeom>
          <a:ln w="25400">
            <a:solidFill>
              <a:srgbClr val="BF54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D158AC55-914B-6BDA-7B0E-0B520CB056B0}"/>
              </a:ext>
            </a:extLst>
          </p:cNvPr>
          <p:cNvCxnSpPr>
            <a:cxnSpLocks/>
          </p:cNvCxnSpPr>
          <p:nvPr/>
        </p:nvCxnSpPr>
        <p:spPr>
          <a:xfrm>
            <a:off x="2154165" y="1430164"/>
            <a:ext cx="0" cy="4918508"/>
          </a:xfrm>
          <a:prstGeom prst="line">
            <a:avLst/>
          </a:prstGeom>
          <a:ln w="25400">
            <a:solidFill>
              <a:srgbClr val="BF54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D158AC55-914B-6BDA-7B0E-0B520CB056B0}"/>
              </a:ext>
            </a:extLst>
          </p:cNvPr>
          <p:cNvCxnSpPr>
            <a:cxnSpLocks/>
          </p:cNvCxnSpPr>
          <p:nvPr/>
        </p:nvCxnSpPr>
        <p:spPr>
          <a:xfrm>
            <a:off x="4689547" y="1430164"/>
            <a:ext cx="0" cy="4918508"/>
          </a:xfrm>
          <a:prstGeom prst="line">
            <a:avLst/>
          </a:prstGeom>
          <a:ln w="25400">
            <a:solidFill>
              <a:srgbClr val="BF54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D158AC55-914B-6BDA-7B0E-0B520CB056B0}"/>
              </a:ext>
            </a:extLst>
          </p:cNvPr>
          <p:cNvCxnSpPr>
            <a:cxnSpLocks/>
          </p:cNvCxnSpPr>
          <p:nvPr/>
        </p:nvCxnSpPr>
        <p:spPr>
          <a:xfrm>
            <a:off x="307694" y="1430164"/>
            <a:ext cx="11576611" cy="0"/>
          </a:xfrm>
          <a:prstGeom prst="line">
            <a:avLst/>
          </a:prstGeom>
          <a:ln w="25400">
            <a:solidFill>
              <a:srgbClr val="BF54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D158AC55-914B-6BDA-7B0E-0B520CB056B0}"/>
              </a:ext>
            </a:extLst>
          </p:cNvPr>
          <p:cNvCxnSpPr>
            <a:cxnSpLocks/>
          </p:cNvCxnSpPr>
          <p:nvPr/>
        </p:nvCxnSpPr>
        <p:spPr>
          <a:xfrm>
            <a:off x="307694" y="6362739"/>
            <a:ext cx="11576611" cy="0"/>
          </a:xfrm>
          <a:prstGeom prst="line">
            <a:avLst/>
          </a:prstGeom>
          <a:ln w="25400">
            <a:solidFill>
              <a:srgbClr val="BF54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D158AC55-914B-6BDA-7B0E-0B520CB056B0}"/>
              </a:ext>
            </a:extLst>
          </p:cNvPr>
          <p:cNvCxnSpPr>
            <a:cxnSpLocks/>
          </p:cNvCxnSpPr>
          <p:nvPr/>
        </p:nvCxnSpPr>
        <p:spPr>
          <a:xfrm>
            <a:off x="307694" y="2940464"/>
            <a:ext cx="11576611" cy="0"/>
          </a:xfrm>
          <a:prstGeom prst="line">
            <a:avLst/>
          </a:prstGeom>
          <a:ln w="25400">
            <a:solidFill>
              <a:srgbClr val="BF54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D158AC55-914B-6BDA-7B0E-0B520CB056B0}"/>
              </a:ext>
            </a:extLst>
          </p:cNvPr>
          <p:cNvCxnSpPr>
            <a:cxnSpLocks/>
          </p:cNvCxnSpPr>
          <p:nvPr/>
        </p:nvCxnSpPr>
        <p:spPr>
          <a:xfrm>
            <a:off x="307694" y="5209070"/>
            <a:ext cx="11576611" cy="0"/>
          </a:xfrm>
          <a:prstGeom prst="line">
            <a:avLst/>
          </a:prstGeom>
          <a:ln w="25400">
            <a:solidFill>
              <a:srgbClr val="BF54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ED29D91B-ED0E-C4EA-92DB-3A56B6205FC5}"/>
              </a:ext>
            </a:extLst>
          </p:cNvPr>
          <p:cNvCxnSpPr>
            <a:cxnSpLocks/>
          </p:cNvCxnSpPr>
          <p:nvPr/>
        </p:nvCxnSpPr>
        <p:spPr>
          <a:xfrm>
            <a:off x="7093309" y="1799970"/>
            <a:ext cx="0" cy="4548702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ED29D91B-ED0E-C4EA-92DB-3A56B6205FC5}"/>
              </a:ext>
            </a:extLst>
          </p:cNvPr>
          <p:cNvCxnSpPr>
            <a:cxnSpLocks/>
          </p:cNvCxnSpPr>
          <p:nvPr/>
        </p:nvCxnSpPr>
        <p:spPr>
          <a:xfrm>
            <a:off x="9490145" y="1799224"/>
            <a:ext cx="0" cy="4548702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950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5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4CD691-DFBC-0AED-481E-BD8564091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2D188F51-2037-90B9-8BBB-C8EAF568D35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307694" y="1430164"/>
          <a:ext cx="11576611" cy="49185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115">
                  <a:extLst>
                    <a:ext uri="{9D8B030D-6E8A-4147-A177-3AD203B41FA5}">
                      <a16:colId xmlns:a16="http://schemas.microsoft.com/office/drawing/2014/main" val="1760504680"/>
                    </a:ext>
                  </a:extLst>
                </a:gridCol>
                <a:gridCol w="1033669">
                  <a:extLst>
                    <a:ext uri="{9D8B030D-6E8A-4147-A177-3AD203B41FA5}">
                      <a16:colId xmlns:a16="http://schemas.microsoft.com/office/drawing/2014/main" val="3705991395"/>
                    </a:ext>
                  </a:extLst>
                </a:gridCol>
                <a:gridCol w="2551044">
                  <a:extLst>
                    <a:ext uri="{9D8B030D-6E8A-4147-A177-3AD203B41FA5}">
                      <a16:colId xmlns:a16="http://schemas.microsoft.com/office/drawing/2014/main" val="382224707"/>
                    </a:ext>
                  </a:extLst>
                </a:gridCol>
                <a:gridCol w="1435957">
                  <a:extLst>
                    <a:ext uri="{9D8B030D-6E8A-4147-A177-3AD203B41FA5}">
                      <a16:colId xmlns:a16="http://schemas.microsoft.com/office/drawing/2014/main" val="89865077"/>
                    </a:ext>
                  </a:extLst>
                </a:gridCol>
                <a:gridCol w="957304">
                  <a:extLst>
                    <a:ext uri="{9D8B030D-6E8A-4147-A177-3AD203B41FA5}">
                      <a16:colId xmlns:a16="http://schemas.microsoft.com/office/drawing/2014/main" val="2899248136"/>
                    </a:ext>
                  </a:extLst>
                </a:gridCol>
                <a:gridCol w="478652">
                  <a:extLst>
                    <a:ext uri="{9D8B030D-6E8A-4147-A177-3AD203B41FA5}">
                      <a16:colId xmlns:a16="http://schemas.microsoft.com/office/drawing/2014/main" val="2027190283"/>
                    </a:ext>
                  </a:extLst>
                </a:gridCol>
                <a:gridCol w="1435957">
                  <a:extLst>
                    <a:ext uri="{9D8B030D-6E8A-4147-A177-3AD203B41FA5}">
                      <a16:colId xmlns:a16="http://schemas.microsoft.com/office/drawing/2014/main" val="3641894258"/>
                    </a:ext>
                  </a:extLst>
                </a:gridCol>
                <a:gridCol w="478652">
                  <a:extLst>
                    <a:ext uri="{9D8B030D-6E8A-4147-A177-3AD203B41FA5}">
                      <a16:colId xmlns:a16="http://schemas.microsoft.com/office/drawing/2014/main" val="3743959956"/>
                    </a:ext>
                  </a:extLst>
                </a:gridCol>
                <a:gridCol w="957304">
                  <a:extLst>
                    <a:ext uri="{9D8B030D-6E8A-4147-A177-3AD203B41FA5}">
                      <a16:colId xmlns:a16="http://schemas.microsoft.com/office/drawing/2014/main" val="3721451741"/>
                    </a:ext>
                  </a:extLst>
                </a:gridCol>
                <a:gridCol w="1435957">
                  <a:extLst>
                    <a:ext uri="{9D8B030D-6E8A-4147-A177-3AD203B41FA5}">
                      <a16:colId xmlns:a16="http://schemas.microsoft.com/office/drawing/2014/main" val="1114620711"/>
                    </a:ext>
                  </a:extLst>
                </a:gridCol>
              </a:tblGrid>
              <a:tr h="37034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구분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542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동작 타입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542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컨셉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5428">
                        <a:alpha val="30000"/>
                      </a:srgbClr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단계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5428">
                        <a:alpha val="3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342522"/>
                  </a:ext>
                </a:extLst>
              </a:tr>
              <a:tr h="568521">
                <a:tc rowSpan="4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데미지</a:t>
                      </a:r>
                      <a:endParaRPr lang="en-US" altLang="ko-KR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추가 동작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스턴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강한 충격 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/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브레이크 누적 시 무력화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(0.3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균형 붕괴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(Loop)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비틀거리며 무방비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(0.5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자세 복귀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1798336"/>
                  </a:ext>
                </a:extLst>
              </a:tr>
              <a:tr h="568521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정신 붕괴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공감 타격 적중 시 정신적 혼란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(0.4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머리를 </a:t>
                      </a:r>
                      <a:r>
                        <a:rPr lang="ko-KR" altLang="en-US" sz="1000" b="0" dirty="0" err="1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감싸쥠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(1.2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비명 및 몸부림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(0.5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자세 회복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7537317"/>
                  </a:ext>
                </a:extLst>
              </a:tr>
              <a:tr h="568521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인간성 동요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정화 계열 공격 적중 시 인간성 반응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(0.4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인간 형상 플래시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(0.8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멍한 정지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(0.4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분노 복귀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9948897"/>
                  </a:ext>
                </a:extLst>
              </a:tr>
              <a:tr h="568521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기억 플래시백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특정 패턴 파훼 시 과거 기억 자극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(0.5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동공 확장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(1.0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주변 응시 정지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(0.5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광폭 복귀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3252163"/>
                  </a:ext>
                </a:extLst>
              </a:tr>
              <a:tr h="568521">
                <a:tc rowSpan="3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기본 공격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기본 공격 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1</a:t>
                      </a:r>
                      <a:endParaRPr lang="ko-KR" altLang="en-US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한 손 전방 </a:t>
                      </a:r>
                      <a:r>
                        <a:rPr lang="ko-KR" altLang="en-US" sz="1000" b="0" dirty="0" err="1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참격</a:t>
                      </a:r>
                      <a:endParaRPr lang="ko-KR" altLang="en-US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선행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(0.3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팔을 뒤로 젖혀 공격 준비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 중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(0.4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전방 </a:t>
                      </a:r>
                      <a:r>
                        <a:rPr lang="ko-KR" altLang="en-US" sz="1000" b="0" dirty="0" err="1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참격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판정 발생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후행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(0.4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자세 복귀 및 빈틈 노출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4248931"/>
                  </a:ext>
                </a:extLst>
              </a:tr>
              <a:tr h="568521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기본 공격 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2</a:t>
                      </a:r>
                      <a:endParaRPr lang="ko-KR" altLang="en-US" sz="1000" b="0" dirty="0">
                        <a:solidFill>
                          <a:srgbClr val="F8F9FA"/>
                        </a:solidFill>
                        <a:effectLst/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반대 손 내려치기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선행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(0.4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 err="1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반대팔을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들어올림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 중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(0.4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내려치기 판정 발생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후행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(0.5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자세 복귀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8583329"/>
                  </a:ext>
                </a:extLst>
              </a:tr>
              <a:tr h="568521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연속 공격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광란의 난타 콤보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준비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(0.3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양 팔을 비틀며 힘 축적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1]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(0.3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좌측 타격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 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2]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(0.3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우측 타격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완료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(0.5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양손 강타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회수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(1.0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큰 경직 발생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7730592"/>
                  </a:ext>
                </a:extLst>
              </a:tr>
              <a:tr h="56852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추가 동작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도발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플레이어를 향한 조롱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선행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(0.4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고개를 숙이며 시선 고정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 중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(1.0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손짓하며 도발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후행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(0.4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전투 자세 복귀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581787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F8F8B02-81FC-EC79-447E-50825F8C8033}"/>
              </a:ext>
            </a:extLst>
          </p:cNvPr>
          <p:cNvSpPr txBox="1"/>
          <p:nvPr/>
        </p:nvSpPr>
        <p:spPr>
          <a:xfrm>
            <a:off x="427915" y="509328"/>
            <a:ext cx="113361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 dirty="0">
                <a:solidFill>
                  <a:srgbClr val="BF5428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보스</a:t>
            </a:r>
            <a:r>
              <a:rPr lang="en-US" altLang="ko-KR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</a:t>
            </a:r>
            <a:r>
              <a:rPr lang="ko-KR" altLang="en-US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애니메이션 리스트 </a:t>
            </a:r>
            <a:r>
              <a:rPr lang="en-US" altLang="ko-KR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– </a:t>
            </a:r>
            <a:r>
              <a:rPr lang="ko-KR" altLang="en-US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데미지 추가 동작 </a:t>
            </a:r>
            <a:r>
              <a:rPr lang="en-US" altLang="ko-KR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/ </a:t>
            </a:r>
            <a:r>
              <a:rPr lang="ko-KR" altLang="en-US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기본 공격 </a:t>
            </a:r>
            <a:r>
              <a:rPr lang="en-US" altLang="ko-KR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/ </a:t>
            </a:r>
            <a:r>
              <a:rPr lang="ko-KR" altLang="en-US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추가 동작</a:t>
            </a:r>
            <a:endParaRPr lang="ko-KR" altLang="en-US" sz="3000" dirty="0">
              <a:solidFill>
                <a:srgbClr val="00B050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3AE14D08-C52F-FDB7-46F4-258A96B80764}"/>
              </a:ext>
            </a:extLst>
          </p:cNvPr>
          <p:cNvCxnSpPr>
            <a:cxnSpLocks/>
          </p:cNvCxnSpPr>
          <p:nvPr/>
        </p:nvCxnSpPr>
        <p:spPr>
          <a:xfrm>
            <a:off x="1120378" y="3504456"/>
            <a:ext cx="10763927" cy="0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5E19DAD2-3454-127C-EEB4-B4F1F95C7977}"/>
              </a:ext>
            </a:extLst>
          </p:cNvPr>
          <p:cNvCxnSpPr>
            <a:cxnSpLocks/>
          </p:cNvCxnSpPr>
          <p:nvPr/>
        </p:nvCxnSpPr>
        <p:spPr>
          <a:xfrm>
            <a:off x="1120378" y="2937046"/>
            <a:ext cx="10763927" cy="0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CF95E45F-99E0-3B62-3E1C-22A8B9B08651}"/>
              </a:ext>
            </a:extLst>
          </p:cNvPr>
          <p:cNvCxnSpPr>
            <a:cxnSpLocks/>
          </p:cNvCxnSpPr>
          <p:nvPr/>
        </p:nvCxnSpPr>
        <p:spPr>
          <a:xfrm>
            <a:off x="1120378" y="4642693"/>
            <a:ext cx="10763927" cy="0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54A8997F-E218-3D50-48D8-B88A37B3B369}"/>
              </a:ext>
            </a:extLst>
          </p:cNvPr>
          <p:cNvCxnSpPr>
            <a:cxnSpLocks/>
          </p:cNvCxnSpPr>
          <p:nvPr/>
        </p:nvCxnSpPr>
        <p:spPr>
          <a:xfrm>
            <a:off x="1120378" y="5215210"/>
            <a:ext cx="10763927" cy="0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F4C23AF2-CCF4-BE69-707C-0514257F4CF3}"/>
              </a:ext>
            </a:extLst>
          </p:cNvPr>
          <p:cNvCxnSpPr>
            <a:cxnSpLocks/>
          </p:cNvCxnSpPr>
          <p:nvPr/>
        </p:nvCxnSpPr>
        <p:spPr>
          <a:xfrm>
            <a:off x="1120378" y="2367808"/>
            <a:ext cx="10763927" cy="0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D158AC55-914B-6BDA-7B0E-0B520CB056B0}"/>
              </a:ext>
            </a:extLst>
          </p:cNvPr>
          <p:cNvCxnSpPr>
            <a:cxnSpLocks/>
          </p:cNvCxnSpPr>
          <p:nvPr/>
        </p:nvCxnSpPr>
        <p:spPr>
          <a:xfrm>
            <a:off x="307694" y="1799970"/>
            <a:ext cx="11576611" cy="0"/>
          </a:xfrm>
          <a:prstGeom prst="line">
            <a:avLst/>
          </a:prstGeom>
          <a:ln w="25400">
            <a:solidFill>
              <a:srgbClr val="BF54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D158AC55-914B-6BDA-7B0E-0B520CB056B0}"/>
              </a:ext>
            </a:extLst>
          </p:cNvPr>
          <p:cNvCxnSpPr>
            <a:cxnSpLocks/>
          </p:cNvCxnSpPr>
          <p:nvPr/>
        </p:nvCxnSpPr>
        <p:spPr>
          <a:xfrm>
            <a:off x="1118538" y="1430164"/>
            <a:ext cx="0" cy="4918508"/>
          </a:xfrm>
          <a:prstGeom prst="line">
            <a:avLst/>
          </a:prstGeom>
          <a:ln w="25400">
            <a:solidFill>
              <a:srgbClr val="BF54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D158AC55-914B-6BDA-7B0E-0B520CB056B0}"/>
              </a:ext>
            </a:extLst>
          </p:cNvPr>
          <p:cNvCxnSpPr>
            <a:cxnSpLocks/>
          </p:cNvCxnSpPr>
          <p:nvPr/>
        </p:nvCxnSpPr>
        <p:spPr>
          <a:xfrm>
            <a:off x="2154165" y="1430164"/>
            <a:ext cx="0" cy="4918508"/>
          </a:xfrm>
          <a:prstGeom prst="line">
            <a:avLst/>
          </a:prstGeom>
          <a:ln w="25400">
            <a:solidFill>
              <a:srgbClr val="BF54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D158AC55-914B-6BDA-7B0E-0B520CB056B0}"/>
              </a:ext>
            </a:extLst>
          </p:cNvPr>
          <p:cNvCxnSpPr>
            <a:cxnSpLocks/>
          </p:cNvCxnSpPr>
          <p:nvPr/>
        </p:nvCxnSpPr>
        <p:spPr>
          <a:xfrm>
            <a:off x="4689547" y="1430164"/>
            <a:ext cx="0" cy="4918508"/>
          </a:xfrm>
          <a:prstGeom prst="line">
            <a:avLst/>
          </a:prstGeom>
          <a:ln w="25400">
            <a:solidFill>
              <a:srgbClr val="BF54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D158AC55-914B-6BDA-7B0E-0B520CB056B0}"/>
              </a:ext>
            </a:extLst>
          </p:cNvPr>
          <p:cNvCxnSpPr>
            <a:cxnSpLocks/>
          </p:cNvCxnSpPr>
          <p:nvPr/>
        </p:nvCxnSpPr>
        <p:spPr>
          <a:xfrm>
            <a:off x="307694" y="1430164"/>
            <a:ext cx="11576611" cy="0"/>
          </a:xfrm>
          <a:prstGeom prst="line">
            <a:avLst/>
          </a:prstGeom>
          <a:ln w="25400">
            <a:solidFill>
              <a:srgbClr val="BF54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D158AC55-914B-6BDA-7B0E-0B520CB056B0}"/>
              </a:ext>
            </a:extLst>
          </p:cNvPr>
          <p:cNvCxnSpPr>
            <a:cxnSpLocks/>
          </p:cNvCxnSpPr>
          <p:nvPr/>
        </p:nvCxnSpPr>
        <p:spPr>
          <a:xfrm>
            <a:off x="307694" y="6362739"/>
            <a:ext cx="11576611" cy="0"/>
          </a:xfrm>
          <a:prstGeom prst="line">
            <a:avLst/>
          </a:prstGeom>
          <a:ln w="25400">
            <a:solidFill>
              <a:srgbClr val="BF54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D158AC55-914B-6BDA-7B0E-0B520CB056B0}"/>
              </a:ext>
            </a:extLst>
          </p:cNvPr>
          <p:cNvCxnSpPr>
            <a:cxnSpLocks/>
          </p:cNvCxnSpPr>
          <p:nvPr/>
        </p:nvCxnSpPr>
        <p:spPr>
          <a:xfrm>
            <a:off x="307694" y="4086703"/>
            <a:ext cx="11576611" cy="0"/>
          </a:xfrm>
          <a:prstGeom prst="line">
            <a:avLst/>
          </a:prstGeom>
          <a:ln w="25400">
            <a:solidFill>
              <a:srgbClr val="BF54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D158AC55-914B-6BDA-7B0E-0B520CB056B0}"/>
              </a:ext>
            </a:extLst>
          </p:cNvPr>
          <p:cNvCxnSpPr>
            <a:cxnSpLocks/>
          </p:cNvCxnSpPr>
          <p:nvPr/>
        </p:nvCxnSpPr>
        <p:spPr>
          <a:xfrm>
            <a:off x="307694" y="5791433"/>
            <a:ext cx="11576611" cy="0"/>
          </a:xfrm>
          <a:prstGeom prst="line">
            <a:avLst/>
          </a:prstGeom>
          <a:ln w="25400">
            <a:solidFill>
              <a:srgbClr val="BF54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ED29D91B-ED0E-C4EA-92DB-3A56B6205FC5}"/>
              </a:ext>
            </a:extLst>
          </p:cNvPr>
          <p:cNvCxnSpPr>
            <a:cxnSpLocks/>
          </p:cNvCxnSpPr>
          <p:nvPr/>
        </p:nvCxnSpPr>
        <p:spPr>
          <a:xfrm>
            <a:off x="7093309" y="1799970"/>
            <a:ext cx="0" cy="3415240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ED29D91B-ED0E-C4EA-92DB-3A56B6205FC5}"/>
              </a:ext>
            </a:extLst>
          </p:cNvPr>
          <p:cNvCxnSpPr>
            <a:cxnSpLocks/>
          </p:cNvCxnSpPr>
          <p:nvPr/>
        </p:nvCxnSpPr>
        <p:spPr>
          <a:xfrm>
            <a:off x="9490145" y="1799224"/>
            <a:ext cx="0" cy="3415986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ED29D91B-ED0E-C4EA-92DB-3A56B6205FC5}"/>
              </a:ext>
            </a:extLst>
          </p:cNvPr>
          <p:cNvCxnSpPr>
            <a:cxnSpLocks/>
          </p:cNvCxnSpPr>
          <p:nvPr/>
        </p:nvCxnSpPr>
        <p:spPr>
          <a:xfrm>
            <a:off x="7093309" y="5791433"/>
            <a:ext cx="0" cy="557239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ED29D91B-ED0E-C4EA-92DB-3A56B6205FC5}"/>
              </a:ext>
            </a:extLst>
          </p:cNvPr>
          <p:cNvCxnSpPr>
            <a:cxnSpLocks/>
          </p:cNvCxnSpPr>
          <p:nvPr/>
        </p:nvCxnSpPr>
        <p:spPr>
          <a:xfrm>
            <a:off x="9490145" y="5791433"/>
            <a:ext cx="0" cy="557239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ED29D91B-ED0E-C4EA-92DB-3A56B6205FC5}"/>
              </a:ext>
            </a:extLst>
          </p:cNvPr>
          <p:cNvCxnSpPr>
            <a:cxnSpLocks/>
          </p:cNvCxnSpPr>
          <p:nvPr/>
        </p:nvCxnSpPr>
        <p:spPr>
          <a:xfrm>
            <a:off x="6126954" y="5215210"/>
            <a:ext cx="0" cy="576223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ED29D91B-ED0E-C4EA-92DB-3A56B6205FC5}"/>
              </a:ext>
            </a:extLst>
          </p:cNvPr>
          <p:cNvCxnSpPr>
            <a:cxnSpLocks/>
          </p:cNvCxnSpPr>
          <p:nvPr/>
        </p:nvCxnSpPr>
        <p:spPr>
          <a:xfrm>
            <a:off x="7578220" y="5215210"/>
            <a:ext cx="0" cy="576223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ED29D91B-ED0E-C4EA-92DB-3A56B6205FC5}"/>
              </a:ext>
            </a:extLst>
          </p:cNvPr>
          <p:cNvCxnSpPr>
            <a:cxnSpLocks/>
          </p:cNvCxnSpPr>
          <p:nvPr/>
        </p:nvCxnSpPr>
        <p:spPr>
          <a:xfrm>
            <a:off x="9012165" y="5215210"/>
            <a:ext cx="0" cy="576223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ED29D91B-ED0E-C4EA-92DB-3A56B6205FC5}"/>
              </a:ext>
            </a:extLst>
          </p:cNvPr>
          <p:cNvCxnSpPr>
            <a:cxnSpLocks/>
          </p:cNvCxnSpPr>
          <p:nvPr/>
        </p:nvCxnSpPr>
        <p:spPr>
          <a:xfrm>
            <a:off x="10446111" y="5215210"/>
            <a:ext cx="0" cy="576223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7468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5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7867BC-9696-B5C8-5F2E-0F3E1B464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08161C7E-D6DF-3FEF-7C58-CB197422DDC0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307694" y="1430164"/>
          <a:ext cx="11576611" cy="49185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115">
                  <a:extLst>
                    <a:ext uri="{9D8B030D-6E8A-4147-A177-3AD203B41FA5}">
                      <a16:colId xmlns:a16="http://schemas.microsoft.com/office/drawing/2014/main" val="1760504680"/>
                    </a:ext>
                  </a:extLst>
                </a:gridCol>
                <a:gridCol w="1033669">
                  <a:extLst>
                    <a:ext uri="{9D8B030D-6E8A-4147-A177-3AD203B41FA5}">
                      <a16:colId xmlns:a16="http://schemas.microsoft.com/office/drawing/2014/main" val="3705991395"/>
                    </a:ext>
                  </a:extLst>
                </a:gridCol>
                <a:gridCol w="2551044">
                  <a:extLst>
                    <a:ext uri="{9D8B030D-6E8A-4147-A177-3AD203B41FA5}">
                      <a16:colId xmlns:a16="http://schemas.microsoft.com/office/drawing/2014/main" val="382224707"/>
                    </a:ext>
                  </a:extLst>
                </a:gridCol>
                <a:gridCol w="1435957">
                  <a:extLst>
                    <a:ext uri="{9D8B030D-6E8A-4147-A177-3AD203B41FA5}">
                      <a16:colId xmlns:a16="http://schemas.microsoft.com/office/drawing/2014/main" val="89865077"/>
                    </a:ext>
                  </a:extLst>
                </a:gridCol>
                <a:gridCol w="1435956">
                  <a:extLst>
                    <a:ext uri="{9D8B030D-6E8A-4147-A177-3AD203B41FA5}">
                      <a16:colId xmlns:a16="http://schemas.microsoft.com/office/drawing/2014/main" val="2920296838"/>
                    </a:ext>
                  </a:extLst>
                </a:gridCol>
                <a:gridCol w="1435957">
                  <a:extLst>
                    <a:ext uri="{9D8B030D-6E8A-4147-A177-3AD203B41FA5}">
                      <a16:colId xmlns:a16="http://schemas.microsoft.com/office/drawing/2014/main" val="1318794813"/>
                    </a:ext>
                  </a:extLst>
                </a:gridCol>
                <a:gridCol w="1435956">
                  <a:extLst>
                    <a:ext uri="{9D8B030D-6E8A-4147-A177-3AD203B41FA5}">
                      <a16:colId xmlns:a16="http://schemas.microsoft.com/office/drawing/2014/main" val="392348234"/>
                    </a:ext>
                  </a:extLst>
                </a:gridCol>
                <a:gridCol w="1435957">
                  <a:extLst>
                    <a:ext uri="{9D8B030D-6E8A-4147-A177-3AD203B41FA5}">
                      <a16:colId xmlns:a16="http://schemas.microsoft.com/office/drawing/2014/main" val="2587972089"/>
                    </a:ext>
                  </a:extLst>
                </a:gridCol>
              </a:tblGrid>
              <a:tr h="37034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구분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542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동작 타입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542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컨셉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5428">
                        <a:alpha val="30000"/>
                      </a:srgb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단계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5428">
                        <a:alpha val="3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342522"/>
                  </a:ext>
                </a:extLst>
              </a:tr>
              <a:tr h="568521">
                <a:tc rowSpan="4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 err="1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페이즈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1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스킬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손 뻗기 실패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실패 충격파 발생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준비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(0.5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손을 천천히 뻗음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1]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(0.4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허공 포착 시도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 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2]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(0.4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팔 떨림 및 불안정화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완료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(0.4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실패 폭발 발생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회수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(0.5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허탈 경직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1798336"/>
                  </a:ext>
                </a:extLst>
              </a:tr>
              <a:tr h="568521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균열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파편 </a:t>
                      </a:r>
                      <a:r>
                        <a:rPr lang="ko-KR" altLang="en-US" sz="1000" b="0" dirty="0" err="1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광역기</a:t>
                      </a:r>
                      <a:endParaRPr lang="ko-KR" altLang="en-US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준비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(0.4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손을 움켜쥠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1]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(0.4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반지 패턴 균열 발생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 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2]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(0.5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에너지 집중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완료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(0.5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균열 파편 폭발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회수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(0.5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손 떨림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7537317"/>
                  </a:ext>
                </a:extLst>
              </a:tr>
              <a:tr h="568521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기억 점멸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환영 생성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준비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(0.5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머리를 움켜쥠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1]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(0.5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공간 왜곡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 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2]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(0.6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환영 형성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완료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(0.5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환영 발동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회수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(0.4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정지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9948897"/>
                  </a:ext>
                </a:extLst>
              </a:tr>
              <a:tr h="568521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환영 소환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기억 </a:t>
                      </a:r>
                      <a:r>
                        <a:rPr lang="ko-KR" altLang="en-US" sz="1000" b="0" dirty="0" err="1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환영체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소환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준비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(0.5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양 팔을 벌림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1]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(0.7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공간 왜곡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 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2]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(0.8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환영 생성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완료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(0.7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소환 완료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회수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(0.5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지휘 자세 유지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3252163"/>
                  </a:ext>
                </a:extLst>
              </a:tr>
              <a:tr h="568521">
                <a:tc rowSpan="4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 err="1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페이즈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2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스킬</a:t>
                      </a:r>
                      <a:endParaRPr lang="en-US" altLang="ko-KR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광폭화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  <a:endParaRPr lang="ko-KR" altLang="en-US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트라우마 절규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광역 절규 공격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준비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(0.6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몸을 움츠림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1]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(0.4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고개를 젖힘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 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2]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(0.7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절규 발산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완료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(0.7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음파 확산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회수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(0.6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탈진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248931"/>
                  </a:ext>
                </a:extLst>
              </a:tr>
              <a:tr h="568521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왜곡 난타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왜곡된 </a:t>
                      </a:r>
                      <a:r>
                        <a:rPr lang="ko-KR" altLang="en-US" sz="1000" b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팔을 </a:t>
                      </a:r>
                      <a:r>
                        <a:rPr lang="ko-KR" altLang="en-US" sz="1000" b="0" smtClean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이용한</a:t>
                      </a:r>
                      <a:endParaRPr lang="en-US" altLang="ko-KR" sz="1000" b="0" smtClean="0">
                        <a:solidFill>
                          <a:srgbClr val="F8F9FA"/>
                        </a:solidFill>
                        <a:effectLst/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smtClean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광폭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연속 타격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준비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(0.4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양팔 비정상적 뒤틀림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1]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(0.3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좌측 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2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회 난타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 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2]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(0.3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우측 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2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회 난타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완료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(0.5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양손 시간차 강타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회수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(0.8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크게 </a:t>
                      </a:r>
                      <a:r>
                        <a:rPr lang="ko-KR" altLang="en-US" sz="1000" b="0" dirty="0" err="1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휘청임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8583329"/>
                  </a:ext>
                </a:extLst>
              </a:tr>
              <a:tr h="568521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기억 붕괴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소환된 환영</a:t>
                      </a:r>
                      <a:r>
                        <a:rPr lang="en-US" altLang="ko-KR" sz="1000" b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/</a:t>
                      </a:r>
                      <a:r>
                        <a:rPr lang="ko-KR" altLang="en-US" sz="1000" b="0" smtClean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기억을</a:t>
                      </a:r>
                      <a:endParaRPr lang="en-US" altLang="ko-KR" sz="1000" b="0" smtClean="0">
                        <a:solidFill>
                          <a:srgbClr val="F8F9FA"/>
                        </a:solidFill>
                        <a:effectLst/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smtClean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폭주시켜 </a:t>
                      </a:r>
                      <a:r>
                        <a:rPr lang="ko-KR" altLang="en-US" sz="1000" b="0" dirty="0" err="1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폭발시킴</a:t>
                      </a:r>
                      <a:endParaRPr lang="ko-KR" altLang="en-US" sz="1000" b="0" dirty="0">
                        <a:solidFill>
                          <a:srgbClr val="F8F9FA"/>
                        </a:solidFill>
                        <a:effectLst/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준비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(0.6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양손 머리로 끌어당김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1]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(0.6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주변 환영 불안정화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 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2]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(0.8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기억 붕괴 에너지 집중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완료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(0.7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광역 폭발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회수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(0.5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비틀거리며 정지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4876297"/>
                  </a:ext>
                </a:extLst>
              </a:tr>
              <a:tr h="568521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절망 포효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절망의 </a:t>
                      </a:r>
                      <a:r>
                        <a:rPr lang="ko-KR" altLang="en-US" sz="1000" b="0" smtClean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포효로</a:t>
                      </a:r>
                      <a:endParaRPr lang="en-US" altLang="ko-KR" sz="1000" b="0" smtClean="0">
                        <a:solidFill>
                          <a:srgbClr val="F8F9FA"/>
                        </a:solidFill>
                        <a:effectLst/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smtClean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광역 </a:t>
                      </a:r>
                      <a:r>
                        <a:rPr lang="ko-KR" altLang="en-US" sz="1000" b="0" dirty="0" err="1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디버프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/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장판 생성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준비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(0.7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몸 크게 젖히며 숨 마심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1]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(0.5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흉부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/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입 발광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 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2]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(0.8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포효 발산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완료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(0.8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장판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/</a:t>
                      </a:r>
                      <a:r>
                        <a:rPr lang="ko-KR" altLang="en-US" sz="1000" b="0" dirty="0" err="1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디버프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생성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회수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(0.6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포효 종료 후 경직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977968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97893BF-5205-418A-C44E-E072D77F2229}"/>
              </a:ext>
            </a:extLst>
          </p:cNvPr>
          <p:cNvSpPr txBox="1"/>
          <p:nvPr/>
        </p:nvSpPr>
        <p:spPr>
          <a:xfrm>
            <a:off x="427915" y="509328"/>
            <a:ext cx="113361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 dirty="0">
                <a:solidFill>
                  <a:srgbClr val="BF5428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보스</a:t>
            </a:r>
            <a:r>
              <a:rPr lang="en-US" altLang="ko-KR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</a:t>
            </a:r>
            <a:r>
              <a:rPr lang="ko-KR" altLang="en-US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애니메이션 리스트 </a:t>
            </a:r>
            <a:r>
              <a:rPr lang="en-US" altLang="ko-KR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– </a:t>
            </a:r>
            <a:r>
              <a:rPr lang="ko-KR" altLang="en-US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스킬 동작</a:t>
            </a:r>
            <a:endParaRPr lang="ko-KR" altLang="en-US" sz="3000" dirty="0">
              <a:solidFill>
                <a:srgbClr val="00B050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D158AC55-914B-6BDA-7B0E-0B520CB056B0}"/>
              </a:ext>
            </a:extLst>
          </p:cNvPr>
          <p:cNvCxnSpPr>
            <a:cxnSpLocks/>
          </p:cNvCxnSpPr>
          <p:nvPr/>
        </p:nvCxnSpPr>
        <p:spPr>
          <a:xfrm>
            <a:off x="307694" y="1799970"/>
            <a:ext cx="11576611" cy="0"/>
          </a:xfrm>
          <a:prstGeom prst="line">
            <a:avLst/>
          </a:prstGeom>
          <a:ln w="25400">
            <a:solidFill>
              <a:srgbClr val="BF54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4E95AC2E-ABE6-047D-0EAF-AEEFEEC68ADE}"/>
              </a:ext>
            </a:extLst>
          </p:cNvPr>
          <p:cNvCxnSpPr>
            <a:cxnSpLocks/>
          </p:cNvCxnSpPr>
          <p:nvPr/>
        </p:nvCxnSpPr>
        <p:spPr>
          <a:xfrm>
            <a:off x="1120378" y="3504456"/>
            <a:ext cx="10763927" cy="0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3EEE7AFA-562B-B97C-0059-07B030E540A6}"/>
              </a:ext>
            </a:extLst>
          </p:cNvPr>
          <p:cNvCxnSpPr>
            <a:cxnSpLocks/>
          </p:cNvCxnSpPr>
          <p:nvPr/>
        </p:nvCxnSpPr>
        <p:spPr>
          <a:xfrm>
            <a:off x="1120378" y="5776479"/>
            <a:ext cx="10763927" cy="0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4DF8D5A4-3548-EAB0-0F33-664E85BF2F9C}"/>
              </a:ext>
            </a:extLst>
          </p:cNvPr>
          <p:cNvCxnSpPr>
            <a:cxnSpLocks/>
          </p:cNvCxnSpPr>
          <p:nvPr/>
        </p:nvCxnSpPr>
        <p:spPr>
          <a:xfrm>
            <a:off x="1120378" y="5211194"/>
            <a:ext cx="10763927" cy="0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2D409813-F394-8BFF-845C-F35ECB0E72DD}"/>
              </a:ext>
            </a:extLst>
          </p:cNvPr>
          <p:cNvCxnSpPr>
            <a:cxnSpLocks/>
          </p:cNvCxnSpPr>
          <p:nvPr/>
        </p:nvCxnSpPr>
        <p:spPr>
          <a:xfrm>
            <a:off x="1120378" y="2936904"/>
            <a:ext cx="10763927" cy="0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ED29D91B-ED0E-C4EA-92DB-3A56B6205FC5}"/>
              </a:ext>
            </a:extLst>
          </p:cNvPr>
          <p:cNvCxnSpPr>
            <a:cxnSpLocks/>
          </p:cNvCxnSpPr>
          <p:nvPr/>
        </p:nvCxnSpPr>
        <p:spPr>
          <a:xfrm>
            <a:off x="1120378" y="2367808"/>
            <a:ext cx="10763927" cy="0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505D1204-F380-9077-945E-831AC7B01717}"/>
              </a:ext>
            </a:extLst>
          </p:cNvPr>
          <p:cNvCxnSpPr>
            <a:cxnSpLocks/>
          </p:cNvCxnSpPr>
          <p:nvPr/>
        </p:nvCxnSpPr>
        <p:spPr>
          <a:xfrm>
            <a:off x="1120378" y="4642693"/>
            <a:ext cx="10763927" cy="0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그림 12">
            <a:extLst>
              <a:ext uri="{FF2B5EF4-FFF2-40B4-BE49-F238E27FC236}">
                <a16:creationId xmlns:a16="http://schemas.microsoft.com/office/drawing/2014/main" id="{175DC83A-3BFF-4B06-29C4-16E8D39D453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4" t="7576" r="93098" b="84243"/>
          <a:stretch/>
        </p:blipFill>
        <p:spPr>
          <a:xfrm>
            <a:off x="4073712" y="1854416"/>
            <a:ext cx="483531" cy="458083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175DC83A-3BFF-4B06-29C4-16E8D39D453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4" t="16298" r="93098" b="75521"/>
          <a:stretch/>
        </p:blipFill>
        <p:spPr>
          <a:xfrm>
            <a:off x="4073712" y="2419700"/>
            <a:ext cx="483531" cy="458083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175DC83A-3BFF-4B06-29C4-16E8D39D453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4" t="25206" r="93098" b="66613"/>
          <a:stretch/>
        </p:blipFill>
        <p:spPr>
          <a:xfrm>
            <a:off x="4073711" y="2991892"/>
            <a:ext cx="483531" cy="458083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175DC83A-3BFF-4B06-29C4-16E8D39D453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4" t="34113" r="93098" b="57706"/>
          <a:stretch/>
        </p:blipFill>
        <p:spPr>
          <a:xfrm>
            <a:off x="4073711" y="3565969"/>
            <a:ext cx="483531" cy="458083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175DC83A-3BFF-4B06-29C4-16E8D39D453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4" t="57866" r="93098" b="33953"/>
          <a:stretch/>
        </p:blipFill>
        <p:spPr>
          <a:xfrm>
            <a:off x="4073709" y="4120371"/>
            <a:ext cx="483531" cy="458083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175DC83A-3BFF-4B06-29C4-16E8D39D453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4" t="76053" r="93098" b="15766"/>
          <a:stretch/>
        </p:blipFill>
        <p:spPr>
          <a:xfrm>
            <a:off x="4073707" y="5271947"/>
            <a:ext cx="483531" cy="458083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175DC83A-3BFF-4B06-29C4-16E8D39D453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4" t="85703" r="93098" b="6116"/>
          <a:stretch/>
        </p:blipFill>
        <p:spPr>
          <a:xfrm>
            <a:off x="4073707" y="5836617"/>
            <a:ext cx="483531" cy="458083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175DC83A-3BFF-4B06-29C4-16E8D39D453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4" t="66774" r="93098" b="25045"/>
          <a:stretch/>
        </p:blipFill>
        <p:spPr>
          <a:xfrm>
            <a:off x="4073706" y="4699139"/>
            <a:ext cx="483531" cy="458083"/>
          </a:xfrm>
          <a:prstGeom prst="rect">
            <a:avLst/>
          </a:prstGeom>
        </p:spPr>
      </p:pic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ED29D91B-ED0E-C4EA-92DB-3A56B6205FC5}"/>
              </a:ext>
            </a:extLst>
          </p:cNvPr>
          <p:cNvCxnSpPr>
            <a:cxnSpLocks/>
          </p:cNvCxnSpPr>
          <p:nvPr/>
        </p:nvCxnSpPr>
        <p:spPr>
          <a:xfrm>
            <a:off x="6126954" y="1799970"/>
            <a:ext cx="0" cy="4548702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ED29D91B-ED0E-C4EA-92DB-3A56B6205FC5}"/>
              </a:ext>
            </a:extLst>
          </p:cNvPr>
          <p:cNvCxnSpPr>
            <a:cxnSpLocks/>
          </p:cNvCxnSpPr>
          <p:nvPr/>
        </p:nvCxnSpPr>
        <p:spPr>
          <a:xfrm>
            <a:off x="7578220" y="1799970"/>
            <a:ext cx="0" cy="4548702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ED29D91B-ED0E-C4EA-92DB-3A56B6205FC5}"/>
              </a:ext>
            </a:extLst>
          </p:cNvPr>
          <p:cNvCxnSpPr>
            <a:cxnSpLocks/>
          </p:cNvCxnSpPr>
          <p:nvPr/>
        </p:nvCxnSpPr>
        <p:spPr>
          <a:xfrm>
            <a:off x="9012165" y="1799970"/>
            <a:ext cx="0" cy="4548702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ED29D91B-ED0E-C4EA-92DB-3A56B6205FC5}"/>
              </a:ext>
            </a:extLst>
          </p:cNvPr>
          <p:cNvCxnSpPr>
            <a:cxnSpLocks/>
          </p:cNvCxnSpPr>
          <p:nvPr/>
        </p:nvCxnSpPr>
        <p:spPr>
          <a:xfrm>
            <a:off x="10446111" y="1799970"/>
            <a:ext cx="0" cy="4548702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D158AC55-914B-6BDA-7B0E-0B520CB056B0}"/>
              </a:ext>
            </a:extLst>
          </p:cNvPr>
          <p:cNvCxnSpPr>
            <a:cxnSpLocks/>
          </p:cNvCxnSpPr>
          <p:nvPr/>
        </p:nvCxnSpPr>
        <p:spPr>
          <a:xfrm>
            <a:off x="1118538" y="1430164"/>
            <a:ext cx="0" cy="4918508"/>
          </a:xfrm>
          <a:prstGeom prst="line">
            <a:avLst/>
          </a:prstGeom>
          <a:ln w="25400">
            <a:solidFill>
              <a:srgbClr val="BF54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D158AC55-914B-6BDA-7B0E-0B520CB056B0}"/>
              </a:ext>
            </a:extLst>
          </p:cNvPr>
          <p:cNvCxnSpPr>
            <a:cxnSpLocks/>
          </p:cNvCxnSpPr>
          <p:nvPr/>
        </p:nvCxnSpPr>
        <p:spPr>
          <a:xfrm>
            <a:off x="2154165" y="1430164"/>
            <a:ext cx="0" cy="4918508"/>
          </a:xfrm>
          <a:prstGeom prst="line">
            <a:avLst/>
          </a:prstGeom>
          <a:ln w="25400">
            <a:solidFill>
              <a:srgbClr val="BF54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D158AC55-914B-6BDA-7B0E-0B520CB056B0}"/>
              </a:ext>
            </a:extLst>
          </p:cNvPr>
          <p:cNvCxnSpPr>
            <a:cxnSpLocks/>
          </p:cNvCxnSpPr>
          <p:nvPr/>
        </p:nvCxnSpPr>
        <p:spPr>
          <a:xfrm>
            <a:off x="4689547" y="1430164"/>
            <a:ext cx="0" cy="4918508"/>
          </a:xfrm>
          <a:prstGeom prst="line">
            <a:avLst/>
          </a:prstGeom>
          <a:ln w="25400">
            <a:solidFill>
              <a:srgbClr val="BF54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D158AC55-914B-6BDA-7B0E-0B520CB056B0}"/>
              </a:ext>
            </a:extLst>
          </p:cNvPr>
          <p:cNvCxnSpPr>
            <a:cxnSpLocks/>
          </p:cNvCxnSpPr>
          <p:nvPr/>
        </p:nvCxnSpPr>
        <p:spPr>
          <a:xfrm>
            <a:off x="307694" y="1430164"/>
            <a:ext cx="11576611" cy="0"/>
          </a:xfrm>
          <a:prstGeom prst="line">
            <a:avLst/>
          </a:prstGeom>
          <a:ln w="25400">
            <a:solidFill>
              <a:srgbClr val="BF54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D158AC55-914B-6BDA-7B0E-0B520CB056B0}"/>
              </a:ext>
            </a:extLst>
          </p:cNvPr>
          <p:cNvCxnSpPr>
            <a:cxnSpLocks/>
          </p:cNvCxnSpPr>
          <p:nvPr/>
        </p:nvCxnSpPr>
        <p:spPr>
          <a:xfrm>
            <a:off x="307694" y="4056131"/>
            <a:ext cx="11576611" cy="0"/>
          </a:xfrm>
          <a:prstGeom prst="line">
            <a:avLst/>
          </a:prstGeom>
          <a:ln w="25400">
            <a:solidFill>
              <a:srgbClr val="BF54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D158AC55-914B-6BDA-7B0E-0B520CB056B0}"/>
              </a:ext>
            </a:extLst>
          </p:cNvPr>
          <p:cNvCxnSpPr>
            <a:cxnSpLocks/>
          </p:cNvCxnSpPr>
          <p:nvPr/>
        </p:nvCxnSpPr>
        <p:spPr>
          <a:xfrm>
            <a:off x="307694" y="6362739"/>
            <a:ext cx="11576611" cy="0"/>
          </a:xfrm>
          <a:prstGeom prst="line">
            <a:avLst/>
          </a:prstGeom>
          <a:ln w="25400">
            <a:solidFill>
              <a:srgbClr val="BF54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47118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5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41C66E-B535-7543-4756-358599967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692223C8-2E13-9609-6DDE-60216D86C09C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307694" y="1430164"/>
          <a:ext cx="11576611" cy="434998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115">
                  <a:extLst>
                    <a:ext uri="{9D8B030D-6E8A-4147-A177-3AD203B41FA5}">
                      <a16:colId xmlns:a16="http://schemas.microsoft.com/office/drawing/2014/main" val="1760504680"/>
                    </a:ext>
                  </a:extLst>
                </a:gridCol>
                <a:gridCol w="1033669">
                  <a:extLst>
                    <a:ext uri="{9D8B030D-6E8A-4147-A177-3AD203B41FA5}">
                      <a16:colId xmlns:a16="http://schemas.microsoft.com/office/drawing/2014/main" val="3705991395"/>
                    </a:ext>
                  </a:extLst>
                </a:gridCol>
                <a:gridCol w="2551044">
                  <a:extLst>
                    <a:ext uri="{9D8B030D-6E8A-4147-A177-3AD203B41FA5}">
                      <a16:colId xmlns:a16="http://schemas.microsoft.com/office/drawing/2014/main" val="382224707"/>
                    </a:ext>
                  </a:extLst>
                </a:gridCol>
                <a:gridCol w="1435957">
                  <a:extLst>
                    <a:ext uri="{9D8B030D-6E8A-4147-A177-3AD203B41FA5}">
                      <a16:colId xmlns:a16="http://schemas.microsoft.com/office/drawing/2014/main" val="89865077"/>
                    </a:ext>
                  </a:extLst>
                </a:gridCol>
                <a:gridCol w="957304">
                  <a:extLst>
                    <a:ext uri="{9D8B030D-6E8A-4147-A177-3AD203B41FA5}">
                      <a16:colId xmlns:a16="http://schemas.microsoft.com/office/drawing/2014/main" val="2920296838"/>
                    </a:ext>
                  </a:extLst>
                </a:gridCol>
                <a:gridCol w="478652">
                  <a:extLst>
                    <a:ext uri="{9D8B030D-6E8A-4147-A177-3AD203B41FA5}">
                      <a16:colId xmlns:a16="http://schemas.microsoft.com/office/drawing/2014/main" val="2876266411"/>
                    </a:ext>
                  </a:extLst>
                </a:gridCol>
                <a:gridCol w="1435957">
                  <a:extLst>
                    <a:ext uri="{9D8B030D-6E8A-4147-A177-3AD203B41FA5}">
                      <a16:colId xmlns:a16="http://schemas.microsoft.com/office/drawing/2014/main" val="1318794813"/>
                    </a:ext>
                  </a:extLst>
                </a:gridCol>
                <a:gridCol w="478652">
                  <a:extLst>
                    <a:ext uri="{9D8B030D-6E8A-4147-A177-3AD203B41FA5}">
                      <a16:colId xmlns:a16="http://schemas.microsoft.com/office/drawing/2014/main" val="392348234"/>
                    </a:ext>
                  </a:extLst>
                </a:gridCol>
                <a:gridCol w="957304">
                  <a:extLst>
                    <a:ext uri="{9D8B030D-6E8A-4147-A177-3AD203B41FA5}">
                      <a16:colId xmlns:a16="http://schemas.microsoft.com/office/drawing/2014/main" val="1960754779"/>
                    </a:ext>
                  </a:extLst>
                </a:gridCol>
                <a:gridCol w="1435957">
                  <a:extLst>
                    <a:ext uri="{9D8B030D-6E8A-4147-A177-3AD203B41FA5}">
                      <a16:colId xmlns:a16="http://schemas.microsoft.com/office/drawing/2014/main" val="2587972089"/>
                    </a:ext>
                  </a:extLst>
                </a:gridCol>
              </a:tblGrid>
              <a:tr h="37034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구분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542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동작 타입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542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컨셉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5428">
                        <a:alpha val="30000"/>
                      </a:srgbClr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단계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5428">
                        <a:alpha val="3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342522"/>
                  </a:ext>
                </a:extLst>
              </a:tr>
              <a:tr h="568521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데미지</a:t>
                      </a:r>
                      <a:endParaRPr lang="en-US" altLang="ko-KR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추가 동작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광폭화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분노 상태 진입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준비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(0.5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몸이 떨리기 시작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1]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(0.6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균열 발광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 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2]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(0.6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냉기 분출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완료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(0.7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포효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회수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(0.6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강화 상태 진입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1798336"/>
                  </a:ext>
                </a:extLst>
              </a:tr>
              <a:tr h="568521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기절 진입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무력화 상태 돌입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준비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(0.4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균형 붕괴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1]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(0.5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무릎 꿇기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 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2]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(0.8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손 뻗기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완료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(1.5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약점 노출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회수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(0.8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기절 유지 진입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7537317"/>
                  </a:ext>
                </a:extLst>
              </a:tr>
              <a:tr h="568521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광폭화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후 전투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광폭 대기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광폭화 이후 강화 전투 자세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(0.4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몸을 낮추며 포효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(Loop)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거친 호흡 및 냉기 분출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(0.4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다음 행동 준비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6004293"/>
                  </a:ext>
                </a:extLst>
              </a:tr>
              <a:tr h="568521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광폭 이동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광폭화 이후 공격적 이동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(0.2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몸을 크게 기울임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(Loop)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빠른 부유 이동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(0.2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자세 복귀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7608468"/>
                  </a:ext>
                </a:extLst>
              </a:tr>
              <a:tr h="568521">
                <a:tc rowSpan="3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연출 동작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 err="1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페이즈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전환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인간 형상 왜곡 변이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준비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(1.0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인간 형상 투영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1]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(1.2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신체 균열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 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2]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(1.5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왜곡 변이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완료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(1.3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광폭화 및 포효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회수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(1.0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신규 </a:t>
                      </a:r>
                      <a:r>
                        <a:rPr lang="ko-KR" altLang="en-US" sz="1000" b="0" dirty="0" err="1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페이즈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진입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9948897"/>
                  </a:ext>
                </a:extLst>
              </a:tr>
              <a:tr h="568521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사망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육체 붕괴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준비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(0.8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비틀거리며 중심 상실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1]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(1.0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균열 확산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 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2]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(1.2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육체 붕괴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완료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(1.0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잔해화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회수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(1.0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완전 소멸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3252163"/>
                  </a:ext>
                </a:extLst>
              </a:tr>
              <a:tr h="568521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정화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인간성 회복 후 소멸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준비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(1.0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경계하며 뒷걸음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1]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(1.5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포옹 수용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 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2]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(2.0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인간 형상 복귀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완료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(1.5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미소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회수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(1.0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서서히 소멸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24893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BD3B933-59EC-FD7E-6828-42E62A0FBC6D}"/>
              </a:ext>
            </a:extLst>
          </p:cNvPr>
          <p:cNvSpPr txBox="1"/>
          <p:nvPr/>
        </p:nvSpPr>
        <p:spPr>
          <a:xfrm>
            <a:off x="427915" y="509328"/>
            <a:ext cx="113361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 dirty="0">
                <a:solidFill>
                  <a:srgbClr val="BF5428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보스</a:t>
            </a:r>
            <a:r>
              <a:rPr lang="en-US" altLang="ko-KR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</a:t>
            </a:r>
            <a:r>
              <a:rPr lang="ko-KR" altLang="en-US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애니메이션 리스트 </a:t>
            </a:r>
            <a:r>
              <a:rPr lang="en-US" altLang="ko-KR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– </a:t>
            </a:r>
            <a:r>
              <a:rPr lang="ko-KR" altLang="en-US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데미지 추가 동작 </a:t>
            </a:r>
            <a:r>
              <a:rPr lang="en-US" altLang="ko-KR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/ </a:t>
            </a:r>
            <a:r>
              <a:rPr lang="ko-KR" altLang="en-US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연출 동작</a:t>
            </a:r>
            <a:endParaRPr lang="ko-KR" altLang="en-US" sz="3000" dirty="0">
              <a:solidFill>
                <a:srgbClr val="00B050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43B00765-6B65-859B-1C13-01A88E7F7C8F}"/>
              </a:ext>
            </a:extLst>
          </p:cNvPr>
          <p:cNvCxnSpPr>
            <a:cxnSpLocks/>
          </p:cNvCxnSpPr>
          <p:nvPr/>
        </p:nvCxnSpPr>
        <p:spPr>
          <a:xfrm>
            <a:off x="1120378" y="3504456"/>
            <a:ext cx="10763927" cy="0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03033E90-AA4A-3FE0-1F04-F177EB27DAC8}"/>
              </a:ext>
            </a:extLst>
          </p:cNvPr>
          <p:cNvCxnSpPr>
            <a:cxnSpLocks/>
          </p:cNvCxnSpPr>
          <p:nvPr/>
        </p:nvCxnSpPr>
        <p:spPr>
          <a:xfrm>
            <a:off x="1120378" y="5210002"/>
            <a:ext cx="10763927" cy="0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AA767FB1-CDB1-95DC-A572-B136139E4EE3}"/>
              </a:ext>
            </a:extLst>
          </p:cNvPr>
          <p:cNvCxnSpPr>
            <a:cxnSpLocks/>
          </p:cNvCxnSpPr>
          <p:nvPr/>
        </p:nvCxnSpPr>
        <p:spPr>
          <a:xfrm>
            <a:off x="1120378" y="2367808"/>
            <a:ext cx="10763927" cy="0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077B5D62-8E7C-7C5D-9DE8-A5BB39F6EE6A}"/>
              </a:ext>
            </a:extLst>
          </p:cNvPr>
          <p:cNvCxnSpPr>
            <a:cxnSpLocks/>
          </p:cNvCxnSpPr>
          <p:nvPr/>
        </p:nvCxnSpPr>
        <p:spPr>
          <a:xfrm>
            <a:off x="1120378" y="4642072"/>
            <a:ext cx="10763927" cy="0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D158AC55-914B-6BDA-7B0E-0B520CB056B0}"/>
              </a:ext>
            </a:extLst>
          </p:cNvPr>
          <p:cNvCxnSpPr>
            <a:cxnSpLocks/>
          </p:cNvCxnSpPr>
          <p:nvPr/>
        </p:nvCxnSpPr>
        <p:spPr>
          <a:xfrm>
            <a:off x="307694" y="1799970"/>
            <a:ext cx="11576611" cy="0"/>
          </a:xfrm>
          <a:prstGeom prst="line">
            <a:avLst/>
          </a:prstGeom>
          <a:ln w="25400">
            <a:solidFill>
              <a:srgbClr val="BF54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D158AC55-914B-6BDA-7B0E-0B520CB056B0}"/>
              </a:ext>
            </a:extLst>
          </p:cNvPr>
          <p:cNvCxnSpPr>
            <a:cxnSpLocks/>
          </p:cNvCxnSpPr>
          <p:nvPr/>
        </p:nvCxnSpPr>
        <p:spPr>
          <a:xfrm>
            <a:off x="1118538" y="1430164"/>
            <a:ext cx="0" cy="4349987"/>
          </a:xfrm>
          <a:prstGeom prst="line">
            <a:avLst/>
          </a:prstGeom>
          <a:ln w="25400">
            <a:solidFill>
              <a:srgbClr val="BF54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D158AC55-914B-6BDA-7B0E-0B520CB056B0}"/>
              </a:ext>
            </a:extLst>
          </p:cNvPr>
          <p:cNvCxnSpPr>
            <a:cxnSpLocks/>
          </p:cNvCxnSpPr>
          <p:nvPr/>
        </p:nvCxnSpPr>
        <p:spPr>
          <a:xfrm>
            <a:off x="2154165" y="1430164"/>
            <a:ext cx="0" cy="4362690"/>
          </a:xfrm>
          <a:prstGeom prst="line">
            <a:avLst/>
          </a:prstGeom>
          <a:ln w="25400">
            <a:solidFill>
              <a:srgbClr val="BF54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D158AC55-914B-6BDA-7B0E-0B520CB056B0}"/>
              </a:ext>
            </a:extLst>
          </p:cNvPr>
          <p:cNvCxnSpPr>
            <a:cxnSpLocks/>
          </p:cNvCxnSpPr>
          <p:nvPr/>
        </p:nvCxnSpPr>
        <p:spPr>
          <a:xfrm>
            <a:off x="4689547" y="1430164"/>
            <a:ext cx="0" cy="4362690"/>
          </a:xfrm>
          <a:prstGeom prst="line">
            <a:avLst/>
          </a:prstGeom>
          <a:ln w="25400">
            <a:solidFill>
              <a:srgbClr val="BF54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D158AC55-914B-6BDA-7B0E-0B520CB056B0}"/>
              </a:ext>
            </a:extLst>
          </p:cNvPr>
          <p:cNvCxnSpPr>
            <a:cxnSpLocks/>
          </p:cNvCxnSpPr>
          <p:nvPr/>
        </p:nvCxnSpPr>
        <p:spPr>
          <a:xfrm>
            <a:off x="307694" y="1430164"/>
            <a:ext cx="11576611" cy="0"/>
          </a:xfrm>
          <a:prstGeom prst="line">
            <a:avLst/>
          </a:prstGeom>
          <a:ln w="25400">
            <a:solidFill>
              <a:srgbClr val="BF54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D158AC55-914B-6BDA-7B0E-0B520CB056B0}"/>
              </a:ext>
            </a:extLst>
          </p:cNvPr>
          <p:cNvCxnSpPr>
            <a:cxnSpLocks/>
          </p:cNvCxnSpPr>
          <p:nvPr/>
        </p:nvCxnSpPr>
        <p:spPr>
          <a:xfrm>
            <a:off x="307694" y="5792854"/>
            <a:ext cx="11576611" cy="0"/>
          </a:xfrm>
          <a:prstGeom prst="line">
            <a:avLst/>
          </a:prstGeom>
          <a:ln w="25400">
            <a:solidFill>
              <a:srgbClr val="BF54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D158AC55-914B-6BDA-7B0E-0B520CB056B0}"/>
              </a:ext>
            </a:extLst>
          </p:cNvPr>
          <p:cNvCxnSpPr>
            <a:cxnSpLocks/>
          </p:cNvCxnSpPr>
          <p:nvPr/>
        </p:nvCxnSpPr>
        <p:spPr>
          <a:xfrm>
            <a:off x="307694" y="4077098"/>
            <a:ext cx="11576611" cy="0"/>
          </a:xfrm>
          <a:prstGeom prst="line">
            <a:avLst/>
          </a:prstGeom>
          <a:ln w="25400">
            <a:solidFill>
              <a:srgbClr val="BF54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D158AC55-914B-6BDA-7B0E-0B520CB056B0}"/>
              </a:ext>
            </a:extLst>
          </p:cNvPr>
          <p:cNvCxnSpPr>
            <a:cxnSpLocks/>
          </p:cNvCxnSpPr>
          <p:nvPr/>
        </p:nvCxnSpPr>
        <p:spPr>
          <a:xfrm>
            <a:off x="307694" y="2937696"/>
            <a:ext cx="11576611" cy="0"/>
          </a:xfrm>
          <a:prstGeom prst="line">
            <a:avLst/>
          </a:prstGeom>
          <a:ln w="25400">
            <a:solidFill>
              <a:srgbClr val="BF54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그림 29">
            <a:extLst>
              <a:ext uri="{FF2B5EF4-FFF2-40B4-BE49-F238E27FC236}">
                <a16:creationId xmlns:a16="http://schemas.microsoft.com/office/drawing/2014/main" id="{175DC83A-3BFF-4B06-29C4-16E8D39D453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4" t="45804" r="93098" b="46015"/>
          <a:stretch/>
        </p:blipFill>
        <p:spPr>
          <a:xfrm>
            <a:off x="4073705" y="1853823"/>
            <a:ext cx="483531" cy="458083"/>
          </a:xfrm>
          <a:prstGeom prst="rect">
            <a:avLst/>
          </a:prstGeom>
        </p:spPr>
      </p:pic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ED29D91B-ED0E-C4EA-92DB-3A56B6205FC5}"/>
              </a:ext>
            </a:extLst>
          </p:cNvPr>
          <p:cNvCxnSpPr>
            <a:cxnSpLocks/>
          </p:cNvCxnSpPr>
          <p:nvPr/>
        </p:nvCxnSpPr>
        <p:spPr>
          <a:xfrm>
            <a:off x="6126954" y="1799970"/>
            <a:ext cx="0" cy="1137726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ED29D91B-ED0E-C4EA-92DB-3A56B6205FC5}"/>
              </a:ext>
            </a:extLst>
          </p:cNvPr>
          <p:cNvCxnSpPr>
            <a:cxnSpLocks/>
          </p:cNvCxnSpPr>
          <p:nvPr/>
        </p:nvCxnSpPr>
        <p:spPr>
          <a:xfrm>
            <a:off x="7578220" y="1799970"/>
            <a:ext cx="0" cy="1137726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ED29D91B-ED0E-C4EA-92DB-3A56B6205FC5}"/>
              </a:ext>
            </a:extLst>
          </p:cNvPr>
          <p:cNvCxnSpPr>
            <a:cxnSpLocks/>
          </p:cNvCxnSpPr>
          <p:nvPr/>
        </p:nvCxnSpPr>
        <p:spPr>
          <a:xfrm>
            <a:off x="9012165" y="1799970"/>
            <a:ext cx="0" cy="1137726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ED29D91B-ED0E-C4EA-92DB-3A56B6205FC5}"/>
              </a:ext>
            </a:extLst>
          </p:cNvPr>
          <p:cNvCxnSpPr>
            <a:cxnSpLocks/>
          </p:cNvCxnSpPr>
          <p:nvPr/>
        </p:nvCxnSpPr>
        <p:spPr>
          <a:xfrm>
            <a:off x="10446111" y="1799970"/>
            <a:ext cx="0" cy="1137726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ED29D91B-ED0E-C4EA-92DB-3A56B6205FC5}"/>
              </a:ext>
            </a:extLst>
          </p:cNvPr>
          <p:cNvCxnSpPr>
            <a:cxnSpLocks/>
          </p:cNvCxnSpPr>
          <p:nvPr/>
        </p:nvCxnSpPr>
        <p:spPr>
          <a:xfrm>
            <a:off x="6126954" y="4077098"/>
            <a:ext cx="0" cy="1698932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ED29D91B-ED0E-C4EA-92DB-3A56B6205FC5}"/>
              </a:ext>
            </a:extLst>
          </p:cNvPr>
          <p:cNvCxnSpPr>
            <a:cxnSpLocks/>
          </p:cNvCxnSpPr>
          <p:nvPr/>
        </p:nvCxnSpPr>
        <p:spPr>
          <a:xfrm>
            <a:off x="7578220" y="4077098"/>
            <a:ext cx="0" cy="1698932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ED29D91B-ED0E-C4EA-92DB-3A56B6205FC5}"/>
              </a:ext>
            </a:extLst>
          </p:cNvPr>
          <p:cNvCxnSpPr>
            <a:cxnSpLocks/>
          </p:cNvCxnSpPr>
          <p:nvPr/>
        </p:nvCxnSpPr>
        <p:spPr>
          <a:xfrm>
            <a:off x="9012165" y="4077098"/>
            <a:ext cx="0" cy="1698932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ED29D91B-ED0E-C4EA-92DB-3A56B6205FC5}"/>
              </a:ext>
            </a:extLst>
          </p:cNvPr>
          <p:cNvCxnSpPr>
            <a:cxnSpLocks/>
          </p:cNvCxnSpPr>
          <p:nvPr/>
        </p:nvCxnSpPr>
        <p:spPr>
          <a:xfrm>
            <a:off x="10446111" y="4077098"/>
            <a:ext cx="0" cy="1698932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ED29D91B-ED0E-C4EA-92DB-3A56B6205FC5}"/>
              </a:ext>
            </a:extLst>
          </p:cNvPr>
          <p:cNvCxnSpPr>
            <a:cxnSpLocks/>
          </p:cNvCxnSpPr>
          <p:nvPr/>
        </p:nvCxnSpPr>
        <p:spPr>
          <a:xfrm>
            <a:off x="7093309" y="2947217"/>
            <a:ext cx="0" cy="1129881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ED29D91B-ED0E-C4EA-92DB-3A56B6205FC5}"/>
              </a:ext>
            </a:extLst>
          </p:cNvPr>
          <p:cNvCxnSpPr>
            <a:cxnSpLocks/>
          </p:cNvCxnSpPr>
          <p:nvPr/>
        </p:nvCxnSpPr>
        <p:spPr>
          <a:xfrm>
            <a:off x="9490145" y="2947217"/>
            <a:ext cx="0" cy="1129881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05721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1432</Words>
  <Application>Microsoft Office PowerPoint</Application>
  <PresentationFormat>와이드스크린</PresentationFormat>
  <Paragraphs>347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KoddiUD 온고딕 Regular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FullName</dc:creator>
  <cp:lastModifiedBy>FullName</cp:lastModifiedBy>
  <cp:revision>3</cp:revision>
  <dcterms:created xsi:type="dcterms:W3CDTF">2026-04-27T05:57:10Z</dcterms:created>
  <dcterms:modified xsi:type="dcterms:W3CDTF">2026-04-27T06:14:27Z</dcterms:modified>
</cp:coreProperties>
</file>