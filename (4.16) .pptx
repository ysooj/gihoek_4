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2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196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459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3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089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263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15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857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46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96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8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67B3-2F20-4398-B65A-450AEFDBBFDE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040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67B3-2F20-4398-B65A-450AEFDBBFDE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0730B-CA98-4DDA-91A5-A96E6F3A85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9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147792"/>
            <a:ext cx="8991598" cy="656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53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smtClean="0"/>
              <a:t>우리는 없는 존재에게 설정값을 넣어야 한다</a:t>
            </a:r>
            <a:r>
              <a:rPr lang="en-US" altLang="ko-KR" sz="4000" smtClean="0"/>
              <a:t>.</a:t>
            </a:r>
            <a:endParaRPr lang="ko-KR" altLang="en-US" sz="40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설정값 </a:t>
            </a:r>
            <a:r>
              <a:rPr lang="en-US" altLang="ko-KR" smtClean="0"/>
              <a:t>=&gt; </a:t>
            </a:r>
            <a:r>
              <a:rPr lang="ko-KR" altLang="en-US" b="1" smtClean="0"/>
              <a:t>게임에 필요한 것</a:t>
            </a:r>
            <a:r>
              <a:rPr lang="ko-KR" altLang="en-US" smtClean="0"/>
              <a:t>이어야 한다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필요하지 않은 설정 인자는 넣을 필요 없다</a:t>
            </a:r>
            <a:r>
              <a:rPr lang="en-US" altLang="ko-KR" smtClean="0"/>
              <a:t>!</a:t>
            </a:r>
            <a:br>
              <a:rPr lang="en-US" altLang="ko-KR" smtClean="0"/>
            </a:b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혈액형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28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해야할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7309" y="1825625"/>
            <a:ext cx="10917382" cy="4351338"/>
          </a:xfrm>
        </p:spPr>
        <p:txBody>
          <a:bodyPr/>
          <a:lstStyle/>
          <a:p>
            <a:r>
              <a:rPr lang="ko-KR" altLang="en-US" smtClean="0"/>
              <a:t>캐릭터의 전신 이미지</a:t>
            </a:r>
            <a:endParaRPr lang="en-US" altLang="ko-KR" smtClean="0"/>
          </a:p>
          <a:p>
            <a:r>
              <a:rPr lang="ko-KR" altLang="en-US" smtClean="0"/>
              <a:t>화살표 선과 글상자로 설정값들을 넣어보자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외형이 아니더라도</a:t>
            </a:r>
            <a:r>
              <a:rPr lang="en-US" altLang="ko-KR" smtClean="0"/>
              <a:t>, </a:t>
            </a:r>
            <a:r>
              <a:rPr lang="ko-KR" altLang="en-US" smtClean="0"/>
              <a:t>그 사람이 가지고 있는 것들에 대해 적어보자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57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3119" y="861358"/>
            <a:ext cx="101692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mtClean="0"/>
              <a:t>남색 비니</a:t>
            </a:r>
            <a:endParaRPr lang="ko-KR" altLang="en-US" sz="1500"/>
          </a:p>
        </p:txBody>
      </p:sp>
      <p:sp>
        <p:nvSpPr>
          <p:cNvPr id="6" name="TextBox 5"/>
          <p:cNvSpPr txBox="1"/>
          <p:nvPr/>
        </p:nvSpPr>
        <p:spPr>
          <a:xfrm>
            <a:off x="8265000" y="4987011"/>
            <a:ext cx="3677064" cy="4140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smtClean="0"/>
              <a:t>메시지 말투를 여러 번 수정하는 습관</a:t>
            </a:r>
            <a:endParaRPr lang="ko-KR" altLang="en-US" sz="150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0504" y1="52295" x2="21223" y2="53408"/>
                        <a14:foregroundMark x1="88849" y1="51321" x2="86691" y2="54381"/>
                        <a14:foregroundMark x1="23022" y1="51739" x2="23741" y2="53686"/>
                        <a14:foregroundMark x1="44964" y1="76773" x2="50000" y2="96523"/>
                        <a14:foregroundMark x1="63309" y1="80807" x2="66187" y2="96384"/>
                        <a14:foregroundMark x1="10791" y1="35049" x2="6115" y2="40195"/>
                        <a14:foregroundMark x1="8273" y1="43394" x2="10072" y2="45480"/>
                        <a14:foregroundMark x1="42806" y1="87622" x2="41367" y2="90125"/>
                        <a14:foregroundMark x1="58273" y1="84006" x2="57554" y2="86648"/>
                        <a14:backgroundMark x1="54317" y1="55355" x2="52878" y2="81502"/>
                        <a14:backgroundMark x1="23741" y1="27816" x2="23741" y2="27816"/>
                        <a14:backgroundMark x1="23381" y1="28512" x2="23381" y2="28512"/>
                        <a14:backgroundMark x1="61151" y1="15021" x2="61151" y2="15021"/>
                        <a14:backgroundMark x1="58993" y1="14882" x2="58993" y2="148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01608" y="744948"/>
            <a:ext cx="2241608" cy="5797539"/>
          </a:xfrm>
          <a:prstGeom prst="rect">
            <a:avLst/>
          </a:prstGeom>
        </p:spPr>
      </p:pic>
      <p:cxnSp>
        <p:nvCxnSpPr>
          <p:cNvPr id="16" name="직선 화살표 연결선 15"/>
          <p:cNvCxnSpPr>
            <a:endCxn id="6" idx="1"/>
          </p:cNvCxnSpPr>
          <p:nvPr/>
        </p:nvCxnSpPr>
        <p:spPr>
          <a:xfrm>
            <a:off x="7196328" y="4371221"/>
            <a:ext cx="1068672" cy="822802"/>
          </a:xfrm>
          <a:prstGeom prst="straightConnector1">
            <a:avLst/>
          </a:prstGeom>
          <a:ln w="19050">
            <a:solidFill>
              <a:srgbClr val="EBD23D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82924" y="1935662"/>
            <a:ext cx="1718312" cy="4385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mtClean="0"/>
              <a:t>선한 인상의 미소</a:t>
            </a:r>
            <a:endParaRPr lang="ko-KR" altLang="en-US" sz="1500"/>
          </a:p>
        </p:txBody>
      </p:sp>
      <p:cxnSp>
        <p:nvCxnSpPr>
          <p:cNvPr id="31" name="직선 화살표 연결선 30"/>
          <p:cNvCxnSpPr>
            <a:endCxn id="4" idx="3"/>
          </p:cNvCxnSpPr>
          <p:nvPr/>
        </p:nvCxnSpPr>
        <p:spPr>
          <a:xfrm flipH="1" flipV="1">
            <a:off x="4830041" y="1080649"/>
            <a:ext cx="958111" cy="44063"/>
          </a:xfrm>
          <a:prstGeom prst="straightConnector1">
            <a:avLst/>
          </a:prstGeom>
          <a:ln w="19050">
            <a:solidFill>
              <a:srgbClr val="EBD23D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endCxn id="43" idx="3"/>
          </p:cNvCxnSpPr>
          <p:nvPr/>
        </p:nvCxnSpPr>
        <p:spPr>
          <a:xfrm flipH="1">
            <a:off x="5217146" y="4123944"/>
            <a:ext cx="571006" cy="1023913"/>
          </a:xfrm>
          <a:prstGeom prst="straightConnector1">
            <a:avLst/>
          </a:prstGeom>
          <a:ln w="19050">
            <a:solidFill>
              <a:srgbClr val="EBD23D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895344" y="4732358"/>
            <a:ext cx="13218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smtClean="0"/>
              <a:t>활동이 편한</a:t>
            </a: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ko-KR" altLang="en-US" sz="1600" smtClean="0"/>
              <a:t>캐주얼 차림</a:t>
            </a:r>
            <a:endParaRPr lang="ko-KR" altLang="en-US" sz="1500"/>
          </a:p>
        </p:txBody>
      </p:sp>
      <p:sp>
        <p:nvSpPr>
          <p:cNvPr id="49" name="TextBox 48"/>
          <p:cNvSpPr txBox="1"/>
          <p:nvPr/>
        </p:nvSpPr>
        <p:spPr>
          <a:xfrm>
            <a:off x="8502744" y="1885793"/>
            <a:ext cx="3521616" cy="4385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mtClean="0"/>
              <a:t>‘좋은 사람’으로 보이고</a:t>
            </a:r>
            <a:r>
              <a:rPr lang="en-US" altLang="ko-KR" sz="1500"/>
              <a:t> </a:t>
            </a:r>
            <a:r>
              <a:rPr lang="ko-KR" altLang="en-US" sz="1500" smtClean="0"/>
              <a:t>싶어 하는 욕구</a:t>
            </a:r>
            <a:endParaRPr lang="ko-KR" altLang="en-US" sz="1500"/>
          </a:p>
        </p:txBody>
      </p:sp>
      <p:cxnSp>
        <p:nvCxnSpPr>
          <p:cNvPr id="51" name="직선 화살표 연결선 50"/>
          <p:cNvCxnSpPr>
            <a:endCxn id="49" idx="1"/>
          </p:cNvCxnSpPr>
          <p:nvPr/>
        </p:nvCxnSpPr>
        <p:spPr>
          <a:xfrm flipV="1">
            <a:off x="7196328" y="2105084"/>
            <a:ext cx="1306416" cy="4416"/>
          </a:xfrm>
          <a:prstGeom prst="straightConnector1">
            <a:avLst/>
          </a:prstGeom>
          <a:ln w="19050">
            <a:solidFill>
              <a:srgbClr val="EBD23D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>
            <a:endCxn id="25" idx="3"/>
          </p:cNvCxnSpPr>
          <p:nvPr/>
        </p:nvCxnSpPr>
        <p:spPr>
          <a:xfrm flipH="1">
            <a:off x="5001236" y="1854931"/>
            <a:ext cx="668613" cy="300022"/>
          </a:xfrm>
          <a:prstGeom prst="straightConnector1">
            <a:avLst/>
          </a:prstGeom>
          <a:ln w="19050">
            <a:solidFill>
              <a:srgbClr val="EBD23D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502744" y="3368280"/>
            <a:ext cx="3134756" cy="3939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mtClean="0"/>
              <a:t>소지품을 넉넉히 챙겨</a:t>
            </a:r>
            <a:r>
              <a:rPr lang="en-US" altLang="ko-KR" sz="1500"/>
              <a:t> </a:t>
            </a:r>
            <a:r>
              <a:rPr lang="ko-KR" altLang="en-US" sz="1500" smtClean="0"/>
              <a:t>다니는 습관</a:t>
            </a:r>
            <a:endParaRPr lang="ko-KR" altLang="en-US" sz="1500"/>
          </a:p>
        </p:txBody>
      </p:sp>
      <p:cxnSp>
        <p:nvCxnSpPr>
          <p:cNvPr id="59" name="직선 화살표 연결선 58"/>
          <p:cNvCxnSpPr>
            <a:endCxn id="58" idx="1"/>
          </p:cNvCxnSpPr>
          <p:nvPr/>
        </p:nvCxnSpPr>
        <p:spPr>
          <a:xfrm>
            <a:off x="7443216" y="3300569"/>
            <a:ext cx="1059528" cy="264688"/>
          </a:xfrm>
          <a:prstGeom prst="straightConnector1">
            <a:avLst/>
          </a:prstGeom>
          <a:ln w="19050">
            <a:solidFill>
              <a:srgbClr val="EBD23D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436571" y="3155914"/>
            <a:ext cx="23654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smtClean="0"/>
              <a:t>주인공 설정</a:t>
            </a:r>
            <a:endParaRPr lang="ko-KR" altLang="en-US" sz="3000"/>
          </a:p>
        </p:txBody>
      </p:sp>
    </p:spTree>
    <p:extLst>
      <p:ext uri="{BB962C8B-B14F-4D97-AF65-F5344CB8AC3E}">
        <p14:creationId xmlns:p14="http://schemas.microsoft.com/office/powerpoint/2010/main" val="496147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64" y="285751"/>
            <a:ext cx="11659072" cy="628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44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캐릭터의 설정 </a:t>
            </a:r>
            <a:r>
              <a:rPr lang="en-US" altLang="ko-KR" smtClean="0"/>
              <a:t>‘</a:t>
            </a:r>
            <a:r>
              <a:rPr lang="ko-KR" altLang="en-US" smtClean="0"/>
              <a:t>구분 인자</a:t>
            </a:r>
            <a:r>
              <a:rPr lang="en-US" altLang="ko-KR" smtClean="0"/>
              <a:t>’</a:t>
            </a:r>
            <a:r>
              <a:rPr lang="ko-KR" altLang="en-US" smtClean="0"/>
              <a:t>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mtClean="0"/>
              <a:t>이름</a:t>
            </a:r>
            <a:endParaRPr lang="en-US" altLang="ko-KR" smtClean="0"/>
          </a:p>
          <a:p>
            <a:pPr lvl="1"/>
            <a:r>
              <a:rPr lang="ko-KR" altLang="en-US" smtClean="0"/>
              <a:t>나의 정체성을 나타내는 것</a:t>
            </a:r>
            <a:endParaRPr lang="en-US" altLang="ko-KR" smtClean="0"/>
          </a:p>
          <a:p>
            <a:r>
              <a:rPr lang="ko-KR" altLang="en-US" smtClean="0"/>
              <a:t>배경 스토리</a:t>
            </a:r>
            <a:endParaRPr lang="en-US" altLang="ko-KR" smtClean="0"/>
          </a:p>
          <a:p>
            <a:r>
              <a:rPr lang="ko-KR" altLang="en-US" smtClean="0"/>
              <a:t>메인 설정</a:t>
            </a:r>
            <a:endParaRPr lang="en-US" altLang="ko-KR" smtClean="0"/>
          </a:p>
          <a:p>
            <a:pPr lvl="1"/>
            <a:r>
              <a:rPr lang="ko-KR" altLang="en-US" smtClean="0"/>
              <a:t>가장 중심적인 설정</a:t>
            </a:r>
            <a:endParaRPr lang="en-US" altLang="ko-KR"/>
          </a:p>
          <a:p>
            <a:r>
              <a:rPr lang="ko-KR" altLang="en-US" smtClean="0"/>
              <a:t>프로필</a:t>
            </a:r>
            <a:endParaRPr lang="en-US" altLang="ko-KR" smtClean="0"/>
          </a:p>
          <a:p>
            <a:r>
              <a:rPr lang="ko-KR" altLang="en-US" smtClean="0"/>
              <a:t>외형</a:t>
            </a:r>
            <a:endParaRPr lang="en-US" altLang="ko-KR" smtClean="0"/>
          </a:p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 smtClean="0"/>
              <a:t>게임의 장르에 따라서 필요한 설정값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컨텐츠의 서식에 따른 설정</a:t>
            </a:r>
            <a:endParaRPr lang="en-US" altLang="ko-KR" smtClean="0"/>
          </a:p>
          <a:p>
            <a:r>
              <a:rPr lang="ko-KR" altLang="en-US" smtClean="0"/>
              <a:t>소속</a:t>
            </a:r>
            <a:r>
              <a:rPr lang="en-US" altLang="ko-KR" smtClean="0"/>
              <a:t>, </a:t>
            </a:r>
            <a:r>
              <a:rPr lang="ko-KR" altLang="en-US" smtClean="0"/>
              <a:t>아이템</a:t>
            </a:r>
            <a:r>
              <a:rPr lang="en-US" altLang="ko-KR" smtClean="0"/>
              <a:t>, </a:t>
            </a:r>
            <a:r>
              <a:rPr lang="ko-KR" altLang="en-US" smtClean="0"/>
              <a:t>의성어</a:t>
            </a:r>
            <a:r>
              <a:rPr lang="en-US" altLang="ko-KR" smtClean="0"/>
              <a:t>, </a:t>
            </a:r>
            <a:r>
              <a:rPr lang="ko-KR" altLang="en-US" smtClean="0"/>
              <a:t>밸런스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29085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685800"/>
            <a:ext cx="10515600" cy="685800"/>
          </a:xfrm>
        </p:spPr>
        <p:txBody>
          <a:bodyPr>
            <a:normAutofit/>
          </a:bodyPr>
          <a:lstStyle/>
          <a:p>
            <a:r>
              <a:rPr lang="ko-KR" altLang="en-US" sz="3000" smtClean="0"/>
              <a:t>캐릭터 시트</a:t>
            </a:r>
            <a:endParaRPr lang="ko-KR" altLang="en-US" sz="300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057104"/>
              </p:ext>
            </p:extLst>
          </p:nvPr>
        </p:nvGraphicFramePr>
        <p:xfrm>
          <a:off x="2032000" y="719666"/>
          <a:ext cx="8106319" cy="61725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7886">
                  <a:extLst>
                    <a:ext uri="{9D8B030D-6E8A-4147-A177-3AD203B41FA5}">
                      <a16:colId xmlns:a16="http://schemas.microsoft.com/office/drawing/2014/main" val="2993771193"/>
                    </a:ext>
                  </a:extLst>
                </a:gridCol>
                <a:gridCol w="2634433">
                  <a:extLst>
                    <a:ext uri="{9D8B030D-6E8A-4147-A177-3AD203B41FA5}">
                      <a16:colId xmlns:a16="http://schemas.microsoft.com/office/drawing/2014/main" val="1353558059"/>
                    </a:ext>
                  </a:extLst>
                </a:gridCol>
                <a:gridCol w="1226367">
                  <a:extLst>
                    <a:ext uri="{9D8B030D-6E8A-4147-A177-3AD203B41FA5}">
                      <a16:colId xmlns:a16="http://schemas.microsoft.com/office/drawing/2014/main" val="851567097"/>
                    </a:ext>
                  </a:extLst>
                </a:gridCol>
                <a:gridCol w="805633">
                  <a:extLst>
                    <a:ext uri="{9D8B030D-6E8A-4147-A177-3AD203B41FA5}">
                      <a16:colId xmlns:a16="http://schemas.microsoft.com/office/drawing/2014/main" val="14790528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29423839"/>
                    </a:ext>
                  </a:extLst>
                </a:gridCol>
              </a:tblGrid>
              <a:tr h="13945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이름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차한해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핵심 정의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타인을 우선시하며</a:t>
                      </a:r>
                      <a:r>
                        <a:rPr lang="en-US" altLang="ko-KR" smtClean="0"/>
                        <a:t>, </a:t>
                      </a:r>
                      <a:r>
                        <a:rPr lang="ko-KR" altLang="en-US" smtClean="0"/>
                        <a:t>좋은 사람으로 보이고자 하는 성향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661256"/>
                  </a:ext>
                </a:extLst>
              </a:tr>
              <a:tr h="11049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복장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활동이 편한 캐주얼 차림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특징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소지품을 넉넉히 챙겨다니는 습관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54826"/>
                  </a:ext>
                </a:extLst>
              </a:tr>
              <a:tr h="11049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약점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타인의 평가에 쉽게 흔들림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511477"/>
                  </a:ext>
                </a:extLst>
              </a:tr>
              <a:tr h="11049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배경 이야기</a:t>
                      </a: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차한해는 가족을 돌보는 역할 속에서 성장하며</a:t>
                      </a:r>
                      <a:r>
                        <a:rPr lang="en-US" altLang="ko-KR" smtClean="0"/>
                        <a:t>, </a:t>
                      </a:r>
                      <a:r>
                        <a:rPr lang="ko-KR" altLang="en-US" smtClean="0"/>
                        <a:t>타인의 기대에 부응하는 것이 관계를 유지하는 방식이라 믿게 되었다</a:t>
                      </a:r>
                      <a:r>
                        <a:rPr lang="en-US" altLang="ko-KR" smtClean="0"/>
                        <a:t>.</a:t>
                      </a:r>
                      <a:br>
                        <a:rPr lang="en-US" altLang="ko-KR" smtClean="0"/>
                      </a:br>
                      <a:r>
                        <a:rPr lang="ko-KR" altLang="en-US" smtClean="0"/>
                        <a:t>그 결과</a:t>
                      </a:r>
                      <a:r>
                        <a:rPr lang="en-US" altLang="ko-KR" smtClean="0"/>
                        <a:t>, </a:t>
                      </a:r>
                      <a:r>
                        <a:rPr lang="ko-KR" altLang="en-US" smtClean="0"/>
                        <a:t>타인의 시선을 의식하며 ‘좋은 사람’으로 보이고자 하는 욕구가 형성되었고</a:t>
                      </a:r>
                      <a:r>
                        <a:rPr lang="en-US" altLang="ko-KR" smtClean="0"/>
                        <a:t>, </a:t>
                      </a:r>
                      <a:r>
                        <a:rPr lang="ko-KR" altLang="en-US" smtClean="0"/>
                        <a:t>부탁을 거절하기보다 받아들이는 선택에 익숙해진 인물이다</a:t>
                      </a:r>
                      <a:r>
                        <a:rPr lang="en-US" altLang="ko-KR" smtClean="0"/>
                        <a:t>.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224805"/>
                  </a:ext>
                </a:extLst>
              </a:tr>
              <a:tr h="1104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2D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도트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952416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0504" y1="52295" x2="21223" y2="53408"/>
                        <a14:foregroundMark x1="88849" y1="51321" x2="86691" y2="54381"/>
                        <a14:foregroundMark x1="23022" y1="51739" x2="23741" y2="53686"/>
                        <a14:foregroundMark x1="44964" y1="76773" x2="50000" y2="96523"/>
                        <a14:foregroundMark x1="63309" y1="80807" x2="66187" y2="96384"/>
                        <a14:foregroundMark x1="10791" y1="35049" x2="6115" y2="40195"/>
                        <a14:foregroundMark x1="8273" y1="43394" x2="10072" y2="45480"/>
                        <a14:foregroundMark x1="42806" y1="87622" x2="41367" y2="90125"/>
                        <a14:foregroundMark x1="58273" y1="84006" x2="57554" y2="86648"/>
                        <a14:backgroundMark x1="54317" y1="55355" x2="52878" y2="81502"/>
                        <a14:backgroundMark x1="23741" y1="27816" x2="23741" y2="27816"/>
                        <a14:backgroundMark x1="23381" y1="28512" x2="23381" y2="28512"/>
                        <a14:backgroundMark x1="61151" y1="15021" x2="61151" y2="15021"/>
                        <a14:backgroundMark x1="58993" y1="14882" x2="58993" y2="148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0108" y="4772301"/>
            <a:ext cx="627692" cy="162341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backgroundMark x1="10345" y1="4310" x2="10345" y2="4310"/>
                        <a14:backgroundMark x1="17241" y1="6034" x2="1724" y2="36207"/>
                        <a14:backgroundMark x1="81034" y1="3448" x2="94828" y2="22414"/>
                        <a14:backgroundMark x1="15517" y1="3448" x2="81034" y2="862"/>
                        <a14:backgroundMark x1="94828" y1="23276" x2="91379" y2="49138"/>
                        <a14:backgroundMark x1="93103" y1="49138" x2="94828" y2="77586"/>
                        <a14:backgroundMark x1="1724" y1="34483" x2="6897" y2="50862"/>
                        <a14:backgroundMark x1="6897" y1="51724" x2="1724" y2="74138"/>
                        <a14:backgroundMark x1="5172" y1="73276" x2="17241" y2="95690"/>
                        <a14:backgroundMark x1="93103" y1="76724" x2="81034" y2="94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9679" y="5429094"/>
            <a:ext cx="552527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67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163</Words>
  <Application>Microsoft Office PowerPoint</Application>
  <PresentationFormat>와이드스크린</PresentationFormat>
  <Paragraphs>42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우리는 없는 존재에게 설정값을 넣어야 한다.</vt:lpstr>
      <vt:lpstr>해야할 것</vt:lpstr>
      <vt:lpstr>PowerPoint 프레젠테이션</vt:lpstr>
      <vt:lpstr>PowerPoint 프레젠테이션</vt:lpstr>
      <vt:lpstr>캐릭터의 설정 ‘구분 인자’들</vt:lpstr>
      <vt:lpstr>캐릭터 시트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12</cp:revision>
  <dcterms:created xsi:type="dcterms:W3CDTF">2026-04-16T04:47:33Z</dcterms:created>
  <dcterms:modified xsi:type="dcterms:W3CDTF">2026-04-16T06:52:36Z</dcterms:modified>
</cp:coreProperties>
</file>