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A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78" y="11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B694-2BC9-420F-86D2-2FA19D78342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CD3C8-174B-4DF9-B653-337198E5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49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B694-2BC9-420F-86D2-2FA19D78342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CD3C8-174B-4DF9-B653-337198E5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372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B694-2BC9-420F-86D2-2FA19D78342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CD3C8-174B-4DF9-B653-337198E5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713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B694-2BC9-420F-86D2-2FA19D78342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CD3C8-174B-4DF9-B653-337198E5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863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B694-2BC9-420F-86D2-2FA19D78342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CD3C8-174B-4DF9-B653-337198E5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94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B694-2BC9-420F-86D2-2FA19D78342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CD3C8-174B-4DF9-B653-337198E5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909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B694-2BC9-420F-86D2-2FA19D78342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CD3C8-174B-4DF9-B653-337198E5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219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B694-2BC9-420F-86D2-2FA19D78342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CD3C8-174B-4DF9-B653-337198E5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543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B694-2BC9-420F-86D2-2FA19D78342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CD3C8-174B-4DF9-B653-337198E5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15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B694-2BC9-420F-86D2-2FA19D78342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CD3C8-174B-4DF9-B653-337198E5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744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B694-2BC9-420F-86D2-2FA19D78342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CD3C8-174B-4DF9-B653-337198E5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718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8B694-2BC9-420F-86D2-2FA19D78342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CD3C8-174B-4DF9-B653-337198E5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939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컨텐츠 개발에서 설계자가 알아야 할 것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게임에 필요한 게 뭔지 알아야 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예</a:t>
            </a:r>
            <a:r>
              <a:rPr lang="en-US" altLang="ko-KR" dirty="0" smtClean="0"/>
              <a:t>) &lt;</a:t>
            </a:r>
            <a:r>
              <a:rPr lang="ko-KR" altLang="en-US" dirty="0" smtClean="0"/>
              <a:t>라스트오브어스</a:t>
            </a:r>
            <a:r>
              <a:rPr lang="en-US" altLang="ko-KR" dirty="0" smtClean="0"/>
              <a:t>&gt; - </a:t>
            </a:r>
            <a:r>
              <a:rPr lang="ko-KR" altLang="en-US" dirty="0" smtClean="0"/>
              <a:t>전투 스킬은 </a:t>
            </a:r>
            <a:r>
              <a:rPr lang="ko-KR" altLang="en-US" dirty="0" err="1" smtClean="0"/>
              <a:t>필요없는데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전투 스킬에 대해 이야기한다</a:t>
            </a:r>
            <a:r>
              <a:rPr lang="en-US" altLang="ko-KR" dirty="0" smtClean="0"/>
              <a:t>? </a:t>
            </a:r>
            <a:r>
              <a:rPr lang="ko-KR" altLang="en-US" dirty="0" smtClean="0"/>
              <a:t>안 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06755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오늘 할 것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전투가 주기 때문에 </a:t>
            </a:r>
            <a:r>
              <a:rPr lang="en-US" altLang="ko-KR" dirty="0" smtClean="0"/>
              <a:t>‘Special Action’</a:t>
            </a:r>
            <a:r>
              <a:rPr lang="ko-KR" altLang="en-US" dirty="0" smtClean="0"/>
              <a:t>이 아니라</a:t>
            </a:r>
            <a:r>
              <a:rPr lang="en-US" altLang="ko-KR" dirty="0" smtClean="0"/>
              <a:t>, ‘Skill’</a:t>
            </a:r>
            <a:r>
              <a:rPr lang="ko-KR" altLang="en-US" dirty="0" smtClean="0"/>
              <a:t>로 배우는 것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스킬의 라이브러리 </a:t>
            </a:r>
            <a:r>
              <a:rPr lang="en-US" altLang="ko-KR" dirty="0" smtClean="0"/>
              <a:t>– LOL</a:t>
            </a:r>
            <a:r>
              <a:rPr lang="ko-KR" altLang="en-US" dirty="0" smtClean="0"/>
              <a:t>에서 가져와서 만들자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보스의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스킬 </a:t>
            </a:r>
            <a:r>
              <a:rPr lang="en-US" altLang="ko-KR" dirty="0" smtClean="0"/>
              <a:t>– MMORPG</a:t>
            </a:r>
            <a:r>
              <a:rPr lang="ko-KR" altLang="en-US" dirty="0" smtClean="0"/>
              <a:t>에서 레이드 보스가 사용하는 스킬을 가져오자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err="1" smtClean="0"/>
              <a:t>챗지피티한테</a:t>
            </a:r>
            <a:r>
              <a:rPr lang="ko-KR" altLang="en-US" dirty="0" smtClean="0"/>
              <a:t> 게임 캐릭터의 스킬을 분석해달라고 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문서로 내가 정리하자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8228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070054"/>
              </p:ext>
            </p:extLst>
          </p:nvPr>
        </p:nvGraphicFramePr>
        <p:xfrm>
          <a:off x="0" y="1"/>
          <a:ext cx="12192000" cy="68561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64122240"/>
                    </a:ext>
                  </a:extLst>
                </a:gridCol>
                <a:gridCol w="1288716">
                  <a:extLst>
                    <a:ext uri="{9D8B030D-6E8A-4147-A177-3AD203B41FA5}">
                      <a16:colId xmlns:a16="http://schemas.microsoft.com/office/drawing/2014/main" val="2947315453"/>
                    </a:ext>
                  </a:extLst>
                </a:gridCol>
                <a:gridCol w="2775284">
                  <a:extLst>
                    <a:ext uri="{9D8B030D-6E8A-4147-A177-3AD203B41FA5}">
                      <a16:colId xmlns:a16="http://schemas.microsoft.com/office/drawing/2014/main" val="19934725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20379266"/>
                    </a:ext>
                  </a:extLst>
                </a:gridCol>
                <a:gridCol w="1288716">
                  <a:extLst>
                    <a:ext uri="{9D8B030D-6E8A-4147-A177-3AD203B41FA5}">
                      <a16:colId xmlns:a16="http://schemas.microsoft.com/office/drawing/2014/main" val="2554291586"/>
                    </a:ext>
                  </a:extLst>
                </a:gridCol>
                <a:gridCol w="2775284">
                  <a:extLst>
                    <a:ext uri="{9D8B030D-6E8A-4147-A177-3AD203B41FA5}">
                      <a16:colId xmlns:a16="http://schemas.microsoft.com/office/drawing/2014/main" val="4112621417"/>
                    </a:ext>
                  </a:extLst>
                </a:gridCol>
              </a:tblGrid>
              <a:tr h="1732546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err="1" smtClean="0"/>
                        <a:t>쓰레쉬</a:t>
                      </a:r>
                      <a:r>
                        <a:rPr lang="en-US" altLang="ko-KR" sz="1500" b="1" dirty="0" smtClean="0"/>
                        <a:t> Q (</a:t>
                      </a:r>
                      <a:r>
                        <a:rPr lang="ko-KR" altLang="en-US" sz="1500" b="1" dirty="0" smtClean="0"/>
                        <a:t>사슬 낫</a:t>
                      </a:r>
                      <a:r>
                        <a:rPr lang="en-US" altLang="ko-KR" sz="1500" b="1" dirty="0" smtClean="0"/>
                        <a:t>)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이미지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err="1" smtClean="0"/>
                        <a:t>녹턴</a:t>
                      </a:r>
                      <a:r>
                        <a:rPr lang="en-US" altLang="ko-KR" sz="1500" b="1" dirty="0" smtClean="0"/>
                        <a:t> R (</a:t>
                      </a:r>
                      <a:r>
                        <a:rPr lang="ko-KR" altLang="en-US" sz="1500" b="1" dirty="0" err="1" smtClean="0"/>
                        <a:t>파라노이아</a:t>
                      </a:r>
                      <a:r>
                        <a:rPr lang="en-US" altLang="ko-KR" sz="1500" b="1" dirty="0" smtClean="0"/>
                        <a:t>)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이미지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521471"/>
                  </a:ext>
                </a:extLst>
              </a:tr>
              <a:tr h="3891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핵심 구조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투사체 명중 → 대상 속박</a:t>
                      </a:r>
                      <a:endParaRPr lang="en-US" altLang="ko-KR" sz="15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이후 선택 </a:t>
                      </a:r>
                      <a:r>
                        <a:rPr lang="en-US" altLang="ko-KR" sz="1500" dirty="0" smtClean="0"/>
                        <a:t>:</a:t>
                      </a:r>
                      <a:r>
                        <a:rPr lang="en-US" altLang="ko-KR" sz="1500" baseline="0" dirty="0" smtClean="0"/>
                        <a:t> </a:t>
                      </a:r>
                      <a:r>
                        <a:rPr lang="ko-KR" altLang="en-US" sz="1500" baseline="0" dirty="0" smtClean="0"/>
                        <a:t>재입력 </a:t>
                      </a:r>
                      <a:r>
                        <a:rPr lang="ko-KR" altLang="en-US" sz="1500" dirty="0" smtClean="0"/>
                        <a:t>→ 대상에게 이동</a:t>
                      </a:r>
                      <a:r>
                        <a:rPr lang="ko-KR" altLang="en-US" sz="1500" baseline="0" dirty="0" smtClean="0"/>
                        <a:t> </a:t>
                      </a:r>
                      <a:endParaRPr lang="ko-KR" altLang="en-US" sz="15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1" dirty="0" smtClean="0"/>
                        <a:t>핵심 구조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전장 전체 시야 차단</a:t>
                      </a:r>
                      <a:endParaRPr lang="en-US" altLang="ko-KR" sz="15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특정 대상에게 돌진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91804"/>
                  </a:ext>
                </a:extLst>
              </a:tr>
              <a:tr h="992778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본질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 smtClean="0"/>
                        <a:t>“</a:t>
                      </a:r>
                      <a:r>
                        <a:rPr lang="ko-KR" altLang="en-US" sz="1500" dirty="0" smtClean="0"/>
                        <a:t>맞추면 유리해지는 강제 연결</a:t>
                      </a:r>
                      <a:r>
                        <a:rPr lang="en-US" altLang="ko-KR" sz="1500" dirty="0" smtClean="0"/>
                        <a:t>“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행동 제한 </a:t>
                      </a:r>
                      <a:r>
                        <a:rPr lang="en-US" altLang="ko-KR" sz="1500" dirty="0" smtClean="0"/>
                        <a:t>+ </a:t>
                      </a:r>
                      <a:r>
                        <a:rPr lang="ko-KR" altLang="en-US" sz="1500" dirty="0" smtClean="0"/>
                        <a:t>선택 확장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1" dirty="0" smtClean="0"/>
                        <a:t>본질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 smtClean="0"/>
                        <a:t>“</a:t>
                      </a:r>
                      <a:r>
                        <a:rPr lang="ko-KR" altLang="en-US" sz="1500" dirty="0" smtClean="0"/>
                        <a:t>정보 박탈 </a:t>
                      </a:r>
                      <a:r>
                        <a:rPr lang="ko-KR" altLang="en-US" sz="1500" dirty="0" smtClean="0"/>
                        <a:t>→ 공포 생성</a:t>
                      </a:r>
                      <a:r>
                        <a:rPr lang="en-US" altLang="ko-KR" sz="1500" dirty="0" smtClean="0"/>
                        <a:t>“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인지 방해 </a:t>
                      </a:r>
                      <a:r>
                        <a:rPr lang="en-US" altLang="ko-KR" sz="1500" dirty="0" smtClean="0"/>
                        <a:t>+ </a:t>
                      </a:r>
                      <a:r>
                        <a:rPr lang="ko-KR" altLang="en-US" sz="1500" dirty="0" smtClean="0"/>
                        <a:t>고립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194868"/>
                  </a:ext>
                </a:extLst>
              </a:tr>
              <a:tr h="767147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재정의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 smtClean="0"/>
                        <a:t>행동 제한이 아니라</a:t>
                      </a:r>
                      <a:r>
                        <a:rPr lang="en-US" altLang="ko-KR" sz="1500" baseline="0" dirty="0" smtClean="0"/>
                        <a:t> “</a:t>
                      </a:r>
                      <a:r>
                        <a:rPr lang="ko-KR" altLang="en-US" sz="1500" baseline="0" dirty="0" smtClean="0"/>
                        <a:t>도덕적 선택 강제 장치</a:t>
                      </a:r>
                      <a:r>
                        <a:rPr lang="en-US" altLang="ko-KR" sz="1500" baseline="0" dirty="0" smtClean="0"/>
                        <a:t>＂</a:t>
                      </a:r>
                      <a:endParaRPr lang="ko-KR" altLang="en-US" sz="15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재정의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 smtClean="0"/>
                        <a:t>정보 제거가 아니라 </a:t>
                      </a:r>
                      <a:r>
                        <a:rPr lang="en-US" altLang="ko-KR" sz="1500" dirty="0" smtClean="0"/>
                        <a:t>“</a:t>
                      </a:r>
                      <a:r>
                        <a:rPr lang="ko-KR" altLang="en-US" sz="1500" dirty="0" smtClean="0"/>
                        <a:t>결과를 보지 못하게 만드는 시스템</a:t>
                      </a:r>
                      <a:r>
                        <a:rPr lang="en-US" altLang="ko-KR" sz="1500" dirty="0" smtClean="0"/>
                        <a:t>＂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192090"/>
                  </a:ext>
                </a:extLst>
              </a:tr>
              <a:tr h="646611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스킬 재정의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이름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500" dirty="0" smtClean="0"/>
                        <a:t>도움 요청</a:t>
                      </a:r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9504637"/>
                  </a:ext>
                </a:extLst>
              </a:tr>
              <a:tr h="646611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설명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500" dirty="0" smtClean="0"/>
                        <a:t>플레이어를 속박 상태로 만듦 </a:t>
                      </a:r>
                      <a:r>
                        <a:rPr lang="ko-KR" altLang="en-US" sz="1500" dirty="0" smtClean="0"/>
                        <a:t>→ </a:t>
                      </a:r>
                      <a:r>
                        <a:rPr lang="en-US" altLang="ko-KR" sz="1500" dirty="0" smtClean="0"/>
                        <a:t>NPC </a:t>
                      </a:r>
                      <a:r>
                        <a:rPr lang="ko-KR" altLang="en-US" sz="1500" dirty="0" smtClean="0"/>
                        <a:t>환영 등장</a:t>
                      </a:r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127528"/>
                  </a:ext>
                </a:extLst>
              </a:tr>
              <a:tr h="646611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특징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환영 도와주기 </a:t>
                      </a:r>
                      <a:r>
                        <a:rPr lang="ko-KR" altLang="en-US" sz="1500" dirty="0" smtClean="0"/>
                        <a:t>→ 체력 소모</a:t>
                      </a:r>
                      <a:r>
                        <a:rPr lang="ko-KR" altLang="en-US" sz="1500" baseline="0" dirty="0" smtClean="0"/>
                        <a:t> </a:t>
                      </a:r>
                      <a:r>
                        <a:rPr lang="en-US" altLang="ko-KR" sz="1500" baseline="0" dirty="0" smtClean="0"/>
                        <a:t>/ </a:t>
                      </a:r>
                      <a:r>
                        <a:rPr lang="ko-KR" altLang="en-US" sz="1500" baseline="0" dirty="0" smtClean="0"/>
                        <a:t>버프</a:t>
                      </a:r>
                      <a:r>
                        <a:rPr lang="en-US" altLang="ko-KR" sz="1500" baseline="0" dirty="0" smtClean="0"/>
                        <a:t>(</a:t>
                      </a:r>
                      <a:r>
                        <a:rPr lang="ko-KR" altLang="en-US" sz="1500" baseline="0" dirty="0" smtClean="0"/>
                        <a:t>정신력 상승</a:t>
                      </a:r>
                      <a:r>
                        <a:rPr lang="en-US" altLang="ko-KR" sz="1500" baseline="0" dirty="0" smtClean="0"/>
                        <a:t>)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aseline="0" dirty="0" smtClean="0"/>
                        <a:t>무시한다 </a:t>
                      </a:r>
                      <a:r>
                        <a:rPr lang="ko-KR" altLang="en-US" sz="1500" dirty="0" smtClean="0"/>
                        <a:t>→ 즉시 풀림 </a:t>
                      </a:r>
                      <a:r>
                        <a:rPr lang="en-US" altLang="ko-KR" sz="1500" dirty="0" smtClean="0"/>
                        <a:t>/ </a:t>
                      </a:r>
                      <a:r>
                        <a:rPr lang="ko-KR" altLang="en-US" sz="1500" dirty="0" err="1" smtClean="0"/>
                        <a:t>디버프</a:t>
                      </a:r>
                      <a:r>
                        <a:rPr lang="en-US" altLang="ko-KR" sz="1500" dirty="0" smtClean="0"/>
                        <a:t>(</a:t>
                      </a:r>
                      <a:r>
                        <a:rPr lang="ko-KR" altLang="en-US" sz="1500" dirty="0" smtClean="0"/>
                        <a:t>정신력 감소</a:t>
                      </a:r>
                      <a:r>
                        <a:rPr lang="en-US" altLang="ko-KR" sz="1500" dirty="0" smtClean="0"/>
                        <a:t>)</a:t>
                      </a:r>
                      <a:endParaRPr lang="en-US" altLang="ko-KR" sz="1500" baseline="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807244"/>
                  </a:ext>
                </a:extLst>
              </a:tr>
              <a:tr h="646611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포인트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 smtClean="0"/>
                        <a:t>CC</a:t>
                      </a:r>
                      <a:r>
                        <a:rPr lang="ko-KR" altLang="en-US" sz="1500" dirty="0" smtClean="0"/>
                        <a:t>기를 </a:t>
                      </a:r>
                      <a:r>
                        <a:rPr lang="en-US" altLang="ko-KR" sz="1500" dirty="0" smtClean="0"/>
                        <a:t>“</a:t>
                      </a:r>
                      <a:r>
                        <a:rPr lang="ko-KR" altLang="en-US" sz="1500" dirty="0" smtClean="0"/>
                        <a:t>도덕 선택</a:t>
                      </a:r>
                      <a:r>
                        <a:rPr lang="en-US" altLang="ko-KR" sz="1500" dirty="0" smtClean="0"/>
                        <a:t>＂</a:t>
                      </a:r>
                      <a:r>
                        <a:rPr lang="ko-KR" altLang="en-US" sz="1500" dirty="0" smtClean="0"/>
                        <a:t>으로 바꿈</a:t>
                      </a:r>
                      <a:endParaRPr lang="en-US" altLang="ko-KR" sz="15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734918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844" y="274948"/>
            <a:ext cx="2486778" cy="121919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264" y="81885"/>
            <a:ext cx="2164944" cy="15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9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36399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64122240"/>
                    </a:ext>
                  </a:extLst>
                </a:gridCol>
                <a:gridCol w="1288716">
                  <a:extLst>
                    <a:ext uri="{9D8B030D-6E8A-4147-A177-3AD203B41FA5}">
                      <a16:colId xmlns:a16="http://schemas.microsoft.com/office/drawing/2014/main" val="2947315453"/>
                    </a:ext>
                  </a:extLst>
                </a:gridCol>
                <a:gridCol w="8871284">
                  <a:extLst>
                    <a:ext uri="{9D8B030D-6E8A-4147-A177-3AD203B41FA5}">
                      <a16:colId xmlns:a16="http://schemas.microsoft.com/office/drawing/2014/main" val="1993472574"/>
                    </a:ext>
                  </a:extLst>
                </a:gridCol>
              </a:tblGrid>
              <a:tr h="1580807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err="1" smtClean="0"/>
                        <a:t>질리언</a:t>
                      </a:r>
                      <a:r>
                        <a:rPr lang="en-US" altLang="ko-KR" sz="1500" b="1" dirty="0" smtClean="0"/>
                        <a:t> Q (</a:t>
                      </a:r>
                      <a:r>
                        <a:rPr lang="ko-KR" altLang="en-US" sz="1500" b="1" dirty="0" smtClean="0"/>
                        <a:t>시간 폭탄</a:t>
                      </a:r>
                      <a:r>
                        <a:rPr lang="en-US" altLang="ko-KR" sz="1500" b="1" dirty="0" smtClean="0"/>
                        <a:t>)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이미지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521471"/>
                  </a:ext>
                </a:extLst>
              </a:tr>
              <a:tr h="870884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핵심 구조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플레이어에게 </a:t>
                      </a:r>
                      <a:r>
                        <a:rPr lang="en-US" altLang="ko-KR" sz="1500" dirty="0" smtClean="0"/>
                        <a:t>“</a:t>
                      </a:r>
                      <a:r>
                        <a:rPr lang="ko-KR" altLang="en-US" sz="1500" dirty="0" smtClean="0"/>
                        <a:t>폭발 표식</a:t>
                      </a:r>
                      <a:r>
                        <a:rPr lang="en-US" altLang="ko-KR" sz="1500" dirty="0" smtClean="0"/>
                        <a:t>“ </a:t>
                      </a:r>
                      <a:r>
                        <a:rPr lang="ko-KR" altLang="en-US" sz="1500" dirty="0" smtClean="0"/>
                        <a:t>부여</a:t>
                      </a:r>
                      <a:endParaRPr lang="en-US" altLang="ko-KR" sz="15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일정 시간 후 폭발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6471454"/>
                  </a:ext>
                </a:extLst>
              </a:tr>
              <a:tr h="935754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본질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 smtClean="0"/>
                        <a:t>“</a:t>
                      </a:r>
                      <a:r>
                        <a:rPr lang="ko-KR" altLang="en-US" sz="1500" dirty="0" smtClean="0"/>
                        <a:t>지연된 결과</a:t>
                      </a:r>
                      <a:r>
                        <a:rPr lang="en-US" altLang="ko-KR" sz="1500" dirty="0" smtClean="0"/>
                        <a:t>“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예측 가능하지만 피하기 어려운 압박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194868"/>
                  </a:ext>
                </a:extLst>
              </a:tr>
              <a:tr h="551899"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스킬 재정의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이름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 smtClean="0"/>
                        <a:t>미뤄진 선택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9504637"/>
                  </a:ext>
                </a:extLst>
              </a:tr>
              <a:tr h="463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정의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/>
                        <a:t>거리 기반 피해 구조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885203"/>
                  </a:ext>
                </a:extLst>
              </a:tr>
              <a:tr h="818546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설명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dirty="0" smtClean="0"/>
                        <a:t>플레이어에게 표식 부여 </a:t>
                      </a:r>
                      <a:r>
                        <a:rPr lang="ko-KR" altLang="en-US" sz="1500" dirty="0" smtClean="0"/>
                        <a:t>→</a:t>
                      </a:r>
                      <a:r>
                        <a:rPr lang="ko-KR" altLang="en-US" sz="1500" dirty="0" smtClean="0"/>
                        <a:t> </a:t>
                      </a:r>
                      <a:r>
                        <a:rPr lang="ko-KR" altLang="en-US" sz="1500" dirty="0" smtClean="0"/>
                        <a:t>일정 시간 후 폭발하는데</a:t>
                      </a:r>
                      <a:r>
                        <a:rPr lang="en-US" altLang="ko-KR" sz="1500" dirty="0" smtClean="0"/>
                        <a:t>, </a:t>
                      </a:r>
                      <a:r>
                        <a:rPr lang="ko-KR" altLang="en-US" sz="1500" dirty="0" smtClean="0"/>
                        <a:t>주변 </a:t>
                      </a:r>
                      <a:r>
                        <a:rPr lang="en-US" altLang="ko-KR" sz="1500" dirty="0" smtClean="0"/>
                        <a:t>NPC</a:t>
                      </a:r>
                      <a:r>
                        <a:rPr lang="ko-KR" altLang="en-US" sz="1500" dirty="0" smtClean="0"/>
                        <a:t>가 대신 피해를 받을 수도 있음</a:t>
                      </a:r>
                      <a:endParaRPr lang="en-US" altLang="ko-KR" sz="1500" baseline="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127528"/>
                  </a:ext>
                </a:extLst>
              </a:tr>
              <a:tr h="818546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특징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aseline="0" dirty="0" smtClean="0"/>
                        <a:t>주변 </a:t>
                      </a:r>
                      <a:r>
                        <a:rPr lang="en-US" altLang="ko-KR" sz="1500" baseline="0" dirty="0" smtClean="0"/>
                        <a:t>NPC</a:t>
                      </a:r>
                      <a:r>
                        <a:rPr lang="ko-KR" altLang="en-US" sz="1500" baseline="0" dirty="0" smtClean="0"/>
                        <a:t>들과 거리 유지 </a:t>
                      </a:r>
                      <a:r>
                        <a:rPr lang="ko-KR" altLang="en-US" sz="1500" dirty="0" smtClean="0"/>
                        <a:t>→ 플레이어 혼자 큰 피해</a:t>
                      </a:r>
                      <a:endParaRPr lang="en-US" altLang="ko-KR" sz="15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aseline="0" dirty="0" smtClean="0"/>
                        <a:t>주변 </a:t>
                      </a:r>
                      <a:r>
                        <a:rPr lang="en-US" altLang="ko-KR" sz="1500" baseline="0" dirty="0" smtClean="0"/>
                        <a:t>NPC</a:t>
                      </a:r>
                      <a:r>
                        <a:rPr lang="ko-KR" altLang="en-US" sz="1500" baseline="0" dirty="0" smtClean="0"/>
                        <a:t>들과 가까이 </a:t>
                      </a:r>
                      <a:r>
                        <a:rPr lang="ko-KR" altLang="en-US" sz="1500" dirty="0" smtClean="0"/>
                        <a:t>→ 피해 분산</a:t>
                      </a:r>
                      <a:endParaRPr lang="en-US" altLang="ko-KR" sz="1500" baseline="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807244"/>
                  </a:ext>
                </a:extLst>
              </a:tr>
              <a:tr h="818546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포인트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 smtClean="0"/>
                        <a:t>“</a:t>
                      </a:r>
                      <a:r>
                        <a:rPr lang="ko-KR" altLang="en-US" sz="1500" dirty="0" smtClean="0"/>
                        <a:t>시간 제한 선택</a:t>
                      </a:r>
                      <a:r>
                        <a:rPr lang="en-US" altLang="ko-KR" sz="1500" dirty="0" smtClean="0"/>
                        <a:t>“ + “</a:t>
                      </a:r>
                      <a:r>
                        <a:rPr lang="ko-KR" altLang="en-US" sz="1500" dirty="0" smtClean="0"/>
                        <a:t>도덕적 책임</a:t>
                      </a:r>
                      <a:r>
                        <a:rPr lang="en-US" altLang="ko-KR" sz="1500" dirty="0" smtClean="0"/>
                        <a:t>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734918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064" y="0"/>
            <a:ext cx="3327939" cy="138303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593" y="2"/>
            <a:ext cx="2796796" cy="133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10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467" y="87538"/>
            <a:ext cx="1525963" cy="157028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9446" y="145848"/>
            <a:ext cx="1619208" cy="1453666"/>
          </a:xfrm>
          <a:prstGeom prst="rect">
            <a:avLst/>
          </a:prstGeom>
        </p:spPr>
      </p:pic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110866"/>
              </p:ext>
            </p:extLst>
          </p:nvPr>
        </p:nvGraphicFramePr>
        <p:xfrm>
          <a:off x="0" y="2"/>
          <a:ext cx="12192000" cy="6857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64122240"/>
                    </a:ext>
                  </a:extLst>
                </a:gridCol>
                <a:gridCol w="1288716">
                  <a:extLst>
                    <a:ext uri="{9D8B030D-6E8A-4147-A177-3AD203B41FA5}">
                      <a16:colId xmlns:a16="http://schemas.microsoft.com/office/drawing/2014/main" val="2947315453"/>
                    </a:ext>
                  </a:extLst>
                </a:gridCol>
                <a:gridCol w="2775284">
                  <a:extLst>
                    <a:ext uri="{9D8B030D-6E8A-4147-A177-3AD203B41FA5}">
                      <a16:colId xmlns:a16="http://schemas.microsoft.com/office/drawing/2014/main" val="19934725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20379266"/>
                    </a:ext>
                  </a:extLst>
                </a:gridCol>
                <a:gridCol w="1288716">
                  <a:extLst>
                    <a:ext uri="{9D8B030D-6E8A-4147-A177-3AD203B41FA5}">
                      <a16:colId xmlns:a16="http://schemas.microsoft.com/office/drawing/2014/main" val="2554291586"/>
                    </a:ext>
                  </a:extLst>
                </a:gridCol>
                <a:gridCol w="2775284">
                  <a:extLst>
                    <a:ext uri="{9D8B030D-6E8A-4147-A177-3AD203B41FA5}">
                      <a16:colId xmlns:a16="http://schemas.microsoft.com/office/drawing/2014/main" val="4112621417"/>
                    </a:ext>
                  </a:extLst>
                </a:gridCol>
              </a:tblGrid>
              <a:tr h="1792738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err="1" smtClean="0"/>
                        <a:t>블리츠크랭크</a:t>
                      </a:r>
                      <a:r>
                        <a:rPr lang="en-US" altLang="ko-KR" sz="1500" b="1" dirty="0" smtClean="0"/>
                        <a:t> Q (</a:t>
                      </a:r>
                      <a:r>
                        <a:rPr lang="ko-KR" altLang="en-US" sz="1500" b="1" dirty="0" smtClean="0"/>
                        <a:t>로켓 손</a:t>
                      </a:r>
                      <a:r>
                        <a:rPr lang="en-US" altLang="ko-KR" sz="1500" b="1" dirty="0" smtClean="0"/>
                        <a:t>)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이미지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세트</a:t>
                      </a:r>
                      <a:r>
                        <a:rPr lang="en-US" altLang="ko-KR" sz="1500" b="1" dirty="0" smtClean="0"/>
                        <a:t> R</a:t>
                      </a:r>
                      <a:r>
                        <a:rPr lang="en-US" altLang="ko-KR" sz="1500" b="1" baseline="0" dirty="0" smtClean="0"/>
                        <a:t> (</a:t>
                      </a:r>
                      <a:r>
                        <a:rPr lang="ko-KR" altLang="en-US" sz="1500" b="1" baseline="0" dirty="0" smtClean="0"/>
                        <a:t>대미 장식</a:t>
                      </a:r>
                      <a:r>
                        <a:rPr lang="en-US" altLang="ko-KR" sz="1500" b="1" baseline="0" dirty="0" smtClean="0"/>
                        <a:t>)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이미지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521471"/>
                  </a:ext>
                </a:extLst>
              </a:tr>
              <a:tr h="5678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핵심 구조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대상 끌어오기</a:t>
                      </a:r>
                      <a:endParaRPr lang="ko-KR" altLang="en-US" sz="15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1" dirty="0" smtClean="0"/>
                        <a:t>핵심 구조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대상 붙잡고 특정 위치로 이동 후 충돌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91804"/>
                  </a:ext>
                </a:extLst>
              </a:tr>
              <a:tr h="1027269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본질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위험 위치로 강제 이동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1" dirty="0" smtClean="0"/>
                        <a:t>본질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위치 재배치 </a:t>
                      </a:r>
                      <a:r>
                        <a:rPr lang="en-US" altLang="ko-KR" sz="1500" dirty="0" smtClean="0"/>
                        <a:t>+ </a:t>
                      </a:r>
                      <a:r>
                        <a:rPr lang="ko-KR" altLang="en-US" sz="1500" dirty="0" smtClean="0"/>
                        <a:t>결과 발생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194868"/>
                  </a:ext>
                </a:extLst>
              </a:tr>
              <a:tr h="793800"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스킬 재정의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이름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/>
                        <a:t>떠넘기기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192090"/>
                  </a:ext>
                </a:extLst>
              </a:tr>
              <a:tr h="669076">
                <a:tc vMerge="1">
                  <a:txBody>
                    <a:bodyPr/>
                    <a:lstStyle/>
                    <a:p>
                      <a:pPr latinLnBrk="1"/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정의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공간 제어가 아니라 “위험을 누구에게 귀속시킬지 결정하는 시스템”</a:t>
                      </a:r>
                      <a:endParaRPr lang="ko-KR" altLang="en-US" sz="16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9504637"/>
                  </a:ext>
                </a:extLst>
              </a:tr>
              <a:tr h="669076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설명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500" dirty="0" smtClean="0"/>
                        <a:t>플레이어와 </a:t>
                      </a:r>
                      <a:r>
                        <a:rPr lang="en-US" altLang="ko-KR" sz="1500" dirty="0" smtClean="0"/>
                        <a:t>NPC</a:t>
                      </a:r>
                      <a:r>
                        <a:rPr lang="ko-KR" altLang="en-US" sz="1500" dirty="0" smtClean="0"/>
                        <a:t>의 위치가 강제 교환됨</a:t>
                      </a:r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127528"/>
                  </a:ext>
                </a:extLst>
              </a:tr>
              <a:tr h="669076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특징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보스의 강력한 공격이 특정 위치에 예고됨</a:t>
                      </a:r>
                      <a:endParaRPr lang="en-US" altLang="ko-KR" sz="16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스킬 발동 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해당 위치에 있던 </a:t>
                      </a:r>
                      <a:r>
                        <a:rPr lang="en-US" altLang="ko-KR" sz="1600" dirty="0" smtClean="0"/>
                        <a:t>NPC</a:t>
                      </a:r>
                      <a:r>
                        <a:rPr lang="ko-KR" altLang="en-US" sz="1600" dirty="0" smtClean="0"/>
                        <a:t>와 플레이어 위치 교환</a:t>
                      </a:r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807244"/>
                  </a:ext>
                </a:extLst>
              </a:tr>
              <a:tr h="669076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포인트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 smtClean="0"/>
                        <a:t>“</a:t>
                      </a:r>
                      <a:r>
                        <a:rPr lang="ko-KR" altLang="en-US" sz="1500" dirty="0" smtClean="0"/>
                        <a:t>희생</a:t>
                      </a:r>
                      <a:r>
                        <a:rPr lang="en-US" altLang="ko-KR" sz="1500" dirty="0" smtClean="0"/>
                        <a:t>“</a:t>
                      </a:r>
                      <a:r>
                        <a:rPr lang="ko-KR" altLang="en-US" sz="1500" dirty="0" smtClean="0"/>
                        <a:t>을 물리적으로 체험하게 만듦</a:t>
                      </a:r>
                      <a:endParaRPr lang="en-US" altLang="ko-KR" sz="15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734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13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937763"/>
              </p:ext>
            </p:extLst>
          </p:nvPr>
        </p:nvGraphicFramePr>
        <p:xfrm>
          <a:off x="0" y="2"/>
          <a:ext cx="12192000" cy="6857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64122240"/>
                    </a:ext>
                  </a:extLst>
                </a:gridCol>
                <a:gridCol w="1288716">
                  <a:extLst>
                    <a:ext uri="{9D8B030D-6E8A-4147-A177-3AD203B41FA5}">
                      <a16:colId xmlns:a16="http://schemas.microsoft.com/office/drawing/2014/main" val="2947315453"/>
                    </a:ext>
                  </a:extLst>
                </a:gridCol>
                <a:gridCol w="2775284">
                  <a:extLst>
                    <a:ext uri="{9D8B030D-6E8A-4147-A177-3AD203B41FA5}">
                      <a16:colId xmlns:a16="http://schemas.microsoft.com/office/drawing/2014/main" val="19934725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20379266"/>
                    </a:ext>
                  </a:extLst>
                </a:gridCol>
                <a:gridCol w="1288716">
                  <a:extLst>
                    <a:ext uri="{9D8B030D-6E8A-4147-A177-3AD203B41FA5}">
                      <a16:colId xmlns:a16="http://schemas.microsoft.com/office/drawing/2014/main" val="2554291586"/>
                    </a:ext>
                  </a:extLst>
                </a:gridCol>
                <a:gridCol w="2775284">
                  <a:extLst>
                    <a:ext uri="{9D8B030D-6E8A-4147-A177-3AD203B41FA5}">
                      <a16:colId xmlns:a16="http://schemas.microsoft.com/office/drawing/2014/main" val="4112621417"/>
                    </a:ext>
                  </a:extLst>
                </a:gridCol>
              </a:tblGrid>
              <a:tr h="1792738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err="1" smtClean="0"/>
                        <a:t>블리츠크랭크</a:t>
                      </a:r>
                      <a:r>
                        <a:rPr lang="en-US" altLang="ko-KR" sz="1500" b="1" dirty="0" smtClean="0"/>
                        <a:t> Q (</a:t>
                      </a:r>
                      <a:r>
                        <a:rPr lang="ko-KR" altLang="en-US" sz="1500" b="1" dirty="0" smtClean="0"/>
                        <a:t>로켓 손</a:t>
                      </a:r>
                      <a:r>
                        <a:rPr lang="en-US" altLang="ko-KR" sz="1500" b="1" dirty="0" smtClean="0"/>
                        <a:t>)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이미지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세트</a:t>
                      </a:r>
                      <a:r>
                        <a:rPr lang="en-US" altLang="ko-KR" sz="1500" b="1" dirty="0" smtClean="0"/>
                        <a:t> R</a:t>
                      </a:r>
                      <a:r>
                        <a:rPr lang="en-US" altLang="ko-KR" sz="1500" b="1" baseline="0" dirty="0" smtClean="0"/>
                        <a:t> (</a:t>
                      </a:r>
                      <a:r>
                        <a:rPr lang="ko-KR" altLang="en-US" sz="1500" b="1" baseline="0" dirty="0" smtClean="0"/>
                        <a:t>대미 장식</a:t>
                      </a:r>
                      <a:r>
                        <a:rPr lang="en-US" altLang="ko-KR" sz="1500" b="1" baseline="0" dirty="0" smtClean="0"/>
                        <a:t>)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이미지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521471"/>
                  </a:ext>
                </a:extLst>
              </a:tr>
              <a:tr h="5678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핵심 구조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대상 끌어오기</a:t>
                      </a:r>
                      <a:endParaRPr lang="ko-KR" altLang="en-US" sz="15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1" dirty="0" smtClean="0"/>
                        <a:t>핵심 구조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대상 붙잡고 특정 위치로 이동 후 충돌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91804"/>
                  </a:ext>
                </a:extLst>
              </a:tr>
              <a:tr h="1027269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본질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위험 위치로 강제 이동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1" dirty="0" smtClean="0"/>
                        <a:t>본질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/>
                        <a:t>위치 재배치 </a:t>
                      </a:r>
                      <a:r>
                        <a:rPr lang="en-US" altLang="ko-KR" sz="1500" dirty="0" smtClean="0"/>
                        <a:t>+ </a:t>
                      </a:r>
                      <a:r>
                        <a:rPr lang="ko-KR" altLang="en-US" sz="1500" dirty="0" smtClean="0"/>
                        <a:t>결과 발생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194868"/>
                  </a:ext>
                </a:extLst>
              </a:tr>
              <a:tr h="793800"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스킬 재정의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이름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/>
                        <a:t>죄책감 축적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192090"/>
                  </a:ext>
                </a:extLst>
              </a:tr>
              <a:tr h="669076">
                <a:tc vMerge="1">
                  <a:txBody>
                    <a:bodyPr/>
                    <a:lstStyle/>
                    <a:p>
                      <a:pPr latinLnBrk="1"/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정의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공간 제어가 아니라 “위험을 누구에게 귀속시킬지 결정하는 시스템”</a:t>
                      </a:r>
                      <a:endParaRPr lang="ko-KR" altLang="en-US" sz="16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9504637"/>
                  </a:ext>
                </a:extLst>
              </a:tr>
              <a:tr h="669076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설명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500" dirty="0" smtClean="0"/>
                        <a:t>플레이어와 </a:t>
                      </a:r>
                      <a:r>
                        <a:rPr lang="en-US" altLang="ko-KR" sz="1500" dirty="0" smtClean="0"/>
                        <a:t>NPC</a:t>
                      </a:r>
                      <a:r>
                        <a:rPr lang="ko-KR" altLang="en-US" sz="1500" dirty="0" smtClean="0"/>
                        <a:t>의 위치가 강제 교환됨</a:t>
                      </a:r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127528"/>
                  </a:ext>
                </a:extLst>
              </a:tr>
              <a:tr h="669076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특징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보스의 강력한 공격이 특정 위치에 예고됨</a:t>
                      </a:r>
                      <a:endParaRPr lang="en-US" altLang="ko-KR" sz="16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스킬 발동 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해당 위치에 있던 </a:t>
                      </a:r>
                      <a:r>
                        <a:rPr lang="en-US" altLang="ko-KR" sz="1600" dirty="0" smtClean="0"/>
                        <a:t>NPC</a:t>
                      </a:r>
                      <a:r>
                        <a:rPr lang="ko-KR" altLang="en-US" sz="1600" dirty="0" smtClean="0"/>
                        <a:t>와 플레이어 위치 교환</a:t>
                      </a:r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807244"/>
                  </a:ext>
                </a:extLst>
              </a:tr>
              <a:tr h="669076">
                <a:tc v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dirty="0" smtClean="0"/>
                        <a:t>포인트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rgbClr val="C7A1E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 smtClean="0"/>
                        <a:t>“</a:t>
                      </a:r>
                      <a:r>
                        <a:rPr lang="ko-KR" altLang="en-US" sz="1500" dirty="0" smtClean="0"/>
                        <a:t>희생</a:t>
                      </a:r>
                      <a:r>
                        <a:rPr lang="en-US" altLang="ko-KR" sz="1500" dirty="0" smtClean="0"/>
                        <a:t>“</a:t>
                      </a:r>
                      <a:r>
                        <a:rPr lang="ko-KR" altLang="en-US" sz="1500" dirty="0" smtClean="0"/>
                        <a:t>을 물리적으로 체험하게 만듦</a:t>
                      </a:r>
                      <a:endParaRPr lang="en-US" altLang="ko-KR" sz="15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734918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467" y="87538"/>
            <a:ext cx="1525963" cy="157028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9446" y="145848"/>
            <a:ext cx="1619208" cy="145366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8337" y="-529390"/>
            <a:ext cx="458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수정 필요 </a:t>
            </a:r>
            <a:r>
              <a:rPr lang="en-US" altLang="ko-KR" dirty="0" smtClean="0"/>
              <a:t>(</a:t>
            </a:r>
            <a:r>
              <a:rPr lang="ko-KR" altLang="en-US" dirty="0" smtClean="0"/>
              <a:t>지금 상태는 </a:t>
            </a:r>
            <a:r>
              <a:rPr lang="en-US" altLang="ko-KR" dirty="0" smtClean="0"/>
              <a:t>5</a:t>
            </a:r>
            <a:r>
              <a:rPr lang="ko-KR" altLang="en-US" dirty="0" smtClean="0"/>
              <a:t>페이지와 중복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5896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476</Words>
  <Application>Microsoft Office PowerPoint</Application>
  <PresentationFormat>와이드스크린</PresentationFormat>
  <Paragraphs>110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컨텐츠 개발에서 설계자가 알아야 할 것</vt:lpstr>
      <vt:lpstr>오늘 할 것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컨텐츠 개발에서 설계자가 알아야 할 것</dc:title>
  <dc:creator>FullName</dc:creator>
  <cp:lastModifiedBy>FullName</cp:lastModifiedBy>
  <cp:revision>11</cp:revision>
  <dcterms:created xsi:type="dcterms:W3CDTF">2026-04-17T04:55:15Z</dcterms:created>
  <dcterms:modified xsi:type="dcterms:W3CDTF">2026-04-17T06:50:44Z</dcterms:modified>
</cp:coreProperties>
</file>